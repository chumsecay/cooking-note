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9" r:id="rId12"/>
    <p:sldId id="273" r:id="rId13"/>
    <p:sldId id="272"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05" d="100"/>
          <a:sy n="105" d="100"/>
        </p:scale>
        <p:origin x="798"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82880"/>
          </a:xfrm>
          <a:prstGeom prst="rect">
            <a:avLst/>
          </a:prstGeom>
          <a:solidFill>
            <a:srgbClr val="E356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4400" y="731520"/>
            <a:ext cx="10362895" cy="2926080"/>
          </a:xfrm>
          <a:prstGeom prst="rect">
            <a:avLst/>
          </a:prstGeom>
          <a:noFill/>
        </p:spPr>
        <p:txBody>
          <a:bodyPr wrap="square">
            <a:spAutoFit/>
          </a:bodyPr>
          <a:lstStyle/>
          <a:p>
            <a:pPr>
              <a:defRPr sz="1300" b="1">
                <a:solidFill>
                  <a:srgbClr val="F59E0B"/>
                </a:solidFill>
                <a:latin typeface="Arial"/>
              </a:defRPr>
            </a:pPr>
            <a:r>
              <a:t>TRƯỜNG CAO ĐẲNG KỸ THUẬT – CÔNG NGHỆ BÁCH KHOA</a:t>
            </a:r>
            <a:br/>
            <a:r>
              <a:t>KHOA CÔNG NGHỆ THÔNG TIN</a:t>
            </a:r>
          </a:p>
          <a:p>
            <a:pPr>
              <a:spcBef>
                <a:spcPts val="1400"/>
              </a:spcBef>
              <a:defRPr sz="1100" b="1">
                <a:solidFill>
                  <a:srgbClr val="94A3B8"/>
                </a:solidFill>
                <a:latin typeface="Arial"/>
              </a:defRPr>
            </a:pPr>
            <a:r>
              <a:t>BÁO CÁO ĐỀ TÀI BÀI TẬP LỚN • MÔN PHÁT TRIỂN ỨNG DỤNG DI ĐỘNG</a:t>
            </a:r>
          </a:p>
          <a:p>
            <a:pPr>
              <a:spcBef>
                <a:spcPts val="1000"/>
              </a:spcBef>
              <a:defRPr sz="2800" b="1">
                <a:solidFill>
                  <a:srgbClr val="FFFFFF"/>
                </a:solidFill>
                <a:latin typeface="Arial"/>
              </a:defRPr>
            </a:pPr>
            <a:r>
              <a:t>XÂY DỰNG ỨNG DỤNG SỔ TAY CÔNG THỨC</a:t>
            </a:r>
            <a:br/>
            <a:r>
              <a:t>NẤU ĂN THÔNG MINH (COOKING NOTE)</a:t>
            </a:r>
          </a:p>
          <a:p>
            <a:pPr>
              <a:spcBef>
                <a:spcPts val="800"/>
              </a:spcBef>
              <a:defRPr sz="1300">
                <a:solidFill>
                  <a:srgbClr val="CBD5E1"/>
                </a:solidFill>
                <a:latin typeface="Arial"/>
              </a:defRPr>
            </a:pPr>
            <a:r>
              <a:t>Ứng dụng Android Offline-First hiện đại tích hợp Trợ lý Trí tuệ Nhân tạo đa nền tảng (Multi-Provider AI)</a:t>
            </a:r>
          </a:p>
        </p:txBody>
      </p:sp>
      <p:sp>
        <p:nvSpPr>
          <p:cNvPr id="5" name="Rounded Rectangle 4"/>
          <p:cNvSpPr/>
          <p:nvPr/>
        </p:nvSpPr>
        <p:spPr>
          <a:xfrm>
            <a:off x="914400" y="3931920"/>
            <a:ext cx="4114800" cy="219456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97280" y="4114800"/>
            <a:ext cx="3749039" cy="1828800"/>
          </a:xfrm>
          <a:prstGeom prst="rect">
            <a:avLst/>
          </a:prstGeom>
          <a:noFill/>
        </p:spPr>
        <p:txBody>
          <a:bodyPr wrap="square">
            <a:spAutoFit/>
          </a:bodyPr>
          <a:lstStyle/>
          <a:p>
            <a:pPr>
              <a:defRPr sz="1100" b="1">
                <a:solidFill>
                  <a:srgbClr val="E3562A"/>
                </a:solidFill>
                <a:latin typeface="Arial"/>
              </a:defRPr>
            </a:pPr>
            <a:r>
              <a:t>GIẢNG VIÊN HƯỚNG DẪN</a:t>
            </a:r>
          </a:p>
          <a:p>
            <a:pPr>
              <a:spcBef>
                <a:spcPts val="600"/>
              </a:spcBef>
              <a:defRPr sz="1800" b="1">
                <a:solidFill>
                  <a:srgbClr val="FFFFFF"/>
                </a:solidFill>
                <a:latin typeface="Arial"/>
              </a:defRPr>
            </a:pPr>
            <a:r>
              <a:t>ThS. Lê Văn Quân</a:t>
            </a:r>
          </a:p>
          <a:p>
            <a:pPr>
              <a:spcBef>
                <a:spcPts val="800"/>
              </a:spcBef>
              <a:defRPr sz="1100">
                <a:solidFill>
                  <a:srgbClr val="94A3B8"/>
                </a:solidFill>
                <a:latin typeface="Arial"/>
              </a:defRPr>
            </a:pPr>
            <a:r>
              <a:t>• Khoa Công nghệ Thông tin</a:t>
            </a:r>
            <a:br/>
            <a:r>
              <a:t>• Trường CĐ Kỹ thuật - Công nghệ Bách Khoa</a:t>
            </a:r>
          </a:p>
        </p:txBody>
      </p:sp>
      <p:sp>
        <p:nvSpPr>
          <p:cNvPr id="7" name="Rounded Rectangle 6"/>
          <p:cNvSpPr/>
          <p:nvPr/>
        </p:nvSpPr>
        <p:spPr>
          <a:xfrm>
            <a:off x="5303520" y="3931920"/>
            <a:ext cx="5943600" cy="219456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486400" y="4114800"/>
            <a:ext cx="5577840" cy="1828800"/>
          </a:xfrm>
          <a:prstGeom prst="rect">
            <a:avLst/>
          </a:prstGeom>
          <a:noFill/>
        </p:spPr>
        <p:txBody>
          <a:bodyPr wrap="square">
            <a:spAutoFit/>
          </a:bodyPr>
          <a:lstStyle/>
          <a:p>
            <a:pPr>
              <a:defRPr sz="1100" b="1">
                <a:solidFill>
                  <a:srgbClr val="F59E0B"/>
                </a:solidFill>
                <a:latin typeface="Arial"/>
              </a:defRPr>
            </a:pPr>
            <a:r>
              <a:t>NHÓM SINH VIÊN THỰC HIỆN • LỚP TT602-K16LT</a:t>
            </a:r>
          </a:p>
          <a:p>
            <a:pPr>
              <a:spcBef>
                <a:spcPts val="800"/>
              </a:spcBef>
              <a:defRPr sz="1300" b="1">
                <a:solidFill>
                  <a:srgbClr val="FFFFFF"/>
                </a:solidFill>
                <a:latin typeface="Arial"/>
              </a:defRPr>
            </a:pPr>
            <a:r>
              <a:t>1. Vũ Đình Đạo (Nhóm trưởng)          2. Ngô Gia Bảo</a:t>
            </a:r>
            <a:br/>
            <a:r>
              <a:t>3. Nguyễn Tiến Dũng                         4. Lê Đức Trọng</a:t>
            </a:r>
          </a:p>
          <a:p>
            <a:pPr>
              <a:spcBef>
                <a:spcPts val="1400"/>
              </a:spcBef>
              <a:defRPr sz="1100">
                <a:solidFill>
                  <a:srgbClr val="94A3B8"/>
                </a:solidFill>
                <a:latin typeface="Arial"/>
              </a:defRPr>
            </a:pPr>
            <a:r>
              <a:t>Hà Nội, Năm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10728655" cy="822960"/>
          </a:xfrm>
          <a:prstGeom prst="rect">
            <a:avLst/>
          </a:prstGeom>
          <a:noFill/>
        </p:spPr>
        <p:txBody>
          <a:bodyPr wrap="square" lIns="0" tIns="0" rIns="0" bIns="0">
            <a:spAutoFit/>
          </a:bodyPr>
          <a:lstStyle/>
          <a:p>
            <a:pPr>
              <a:defRPr sz="1000" b="1">
                <a:solidFill>
                  <a:srgbClr val="E3562A"/>
                </a:solidFill>
                <a:latin typeface="Arial"/>
              </a:defRPr>
            </a:pPr>
            <a:r>
              <a:t>TỔNG QUAN CẤU TRÚC ĐỒ ÁN</a:t>
            </a:r>
          </a:p>
          <a:p>
            <a:pPr>
              <a:spcBef>
                <a:spcPts val="300"/>
              </a:spcBef>
              <a:defRPr sz="2200" b="1">
                <a:solidFill>
                  <a:srgbClr val="0F172A"/>
                </a:solidFill>
                <a:latin typeface="Arial"/>
              </a:defRPr>
            </a:pPr>
            <a:r>
              <a:t>MỤC LỤC NỘI DUNG BÁO CÁO</a:t>
            </a:r>
          </a:p>
        </p:txBody>
      </p:sp>
      <p:sp>
        <p:nvSpPr>
          <p:cNvPr id="3" name="Rectangle 2"/>
          <p:cNvSpPr/>
          <p:nvPr/>
        </p:nvSpPr>
        <p:spPr>
          <a:xfrm>
            <a:off x="731520" y="1234440"/>
            <a:ext cx="10728655" cy="27432"/>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31520" y="1234440"/>
            <a:ext cx="1097280" cy="27432"/>
          </a:xfrm>
          <a:prstGeom prst="rect">
            <a:avLst/>
          </a:prstGeom>
          <a:solidFill>
            <a:srgbClr val="E356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6309360"/>
            <a:ext cx="10728655" cy="365760"/>
          </a:xfrm>
          <a:prstGeom prst="rect">
            <a:avLst/>
          </a:prstGeom>
          <a:noFill/>
        </p:spPr>
        <p:txBody>
          <a:bodyPr wrap="square" lIns="0" tIns="0" rIns="0" bIns="0">
            <a:spAutoFit/>
          </a:bodyPr>
          <a:lstStyle/>
          <a:p>
            <a:pPr>
              <a:defRPr sz="900">
                <a:solidFill>
                  <a:srgbClr val="64748B"/>
                </a:solidFill>
                <a:latin typeface="Arial"/>
              </a:defRPr>
            </a:pPr>
            <a:r>
              <a:t>Trường CĐ Kỹ thuật - Công nghệ Bách Khoa • Môn: Phát triển Ứng dụng Di động • Nhóm TT602-K16LT</a:t>
            </a:r>
          </a:p>
        </p:txBody>
      </p:sp>
      <p:sp>
        <p:nvSpPr>
          <p:cNvPr id="6" name="TextBox 5"/>
          <p:cNvSpPr txBox="1"/>
          <p:nvPr/>
        </p:nvSpPr>
        <p:spPr>
          <a:xfrm>
            <a:off x="10515600" y="6309360"/>
            <a:ext cx="914400" cy="365760"/>
          </a:xfrm>
          <a:prstGeom prst="rect">
            <a:avLst/>
          </a:prstGeom>
          <a:noFill/>
        </p:spPr>
        <p:txBody>
          <a:bodyPr wrap="none" lIns="0" tIns="0" rIns="0" bIns="0">
            <a:spAutoFit/>
          </a:bodyPr>
          <a:lstStyle/>
          <a:p>
            <a:pPr algn="r">
              <a:defRPr sz="900" b="1">
                <a:solidFill>
                  <a:srgbClr val="E3562A"/>
                </a:solidFill>
                <a:latin typeface="Arial"/>
              </a:defRPr>
            </a:pPr>
            <a:r>
              <a:t>02 / 19</a:t>
            </a:r>
          </a:p>
        </p:txBody>
      </p:sp>
      <p:sp>
        <p:nvSpPr>
          <p:cNvPr id="7" name="Rounded Rectangle 6"/>
          <p:cNvSpPr/>
          <p:nvPr/>
        </p:nvSpPr>
        <p:spPr>
          <a:xfrm>
            <a:off x="731520" y="1463040"/>
            <a:ext cx="10728655" cy="10058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960120" y="1627632"/>
            <a:ext cx="777240" cy="676656"/>
          </a:xfrm>
          <a:prstGeom prst="roundRect">
            <a:avLst/>
          </a:prstGeom>
          <a:solidFill>
            <a:srgbClr val="E356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Arial"/>
              </a:defRPr>
            </a:pPr>
            <a:r>
              <a:t>01</a:t>
            </a:r>
          </a:p>
        </p:txBody>
      </p:sp>
      <p:sp>
        <p:nvSpPr>
          <p:cNvPr id="9" name="TextBox 8"/>
          <p:cNvSpPr txBox="1"/>
          <p:nvPr/>
        </p:nvSpPr>
        <p:spPr>
          <a:xfrm>
            <a:off x="1920240" y="1572768"/>
            <a:ext cx="9326880" cy="777240"/>
          </a:xfrm>
          <a:prstGeom prst="rect">
            <a:avLst/>
          </a:prstGeom>
          <a:noFill/>
        </p:spPr>
        <p:txBody>
          <a:bodyPr wrap="square" lIns="0" tIns="0" rIns="0" bIns="0">
            <a:spAutoFit/>
          </a:bodyPr>
          <a:lstStyle/>
          <a:p>
            <a:pPr>
              <a:defRPr sz="1400" b="1">
                <a:solidFill>
                  <a:srgbClr val="0F172A"/>
                </a:solidFill>
                <a:latin typeface="Arial"/>
              </a:defRPr>
            </a:pPr>
            <a:r>
              <a:t>CHƯƠNG 1: GIỚI THIỆU ĐỀ TÀI</a:t>
            </a:r>
          </a:p>
          <a:p>
            <a:pPr>
              <a:spcBef>
                <a:spcPts val="200"/>
              </a:spcBef>
              <a:defRPr sz="1100">
                <a:solidFill>
                  <a:srgbClr val="64748B"/>
                </a:solidFill>
                <a:latin typeface="Arial"/>
              </a:defRPr>
            </a:pPr>
            <a:r>
              <a:t>Lý do chọn đề tài, 4 hạn chế của các giải pháp hiện tại, mục tiêu kiến thức &amp; kỹ năng, phạm vi và đối tượng người dùng.</a:t>
            </a:r>
          </a:p>
        </p:txBody>
      </p:sp>
      <p:sp>
        <p:nvSpPr>
          <p:cNvPr id="10" name="Rounded Rectangle 9"/>
          <p:cNvSpPr/>
          <p:nvPr/>
        </p:nvSpPr>
        <p:spPr>
          <a:xfrm>
            <a:off x="731520" y="2606040"/>
            <a:ext cx="10728655" cy="10058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960120" y="2770632"/>
            <a:ext cx="777240" cy="676656"/>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Arial"/>
              </a:defRPr>
            </a:pPr>
            <a:r>
              <a:t>02</a:t>
            </a:r>
          </a:p>
        </p:txBody>
      </p:sp>
      <p:sp>
        <p:nvSpPr>
          <p:cNvPr id="12" name="TextBox 11"/>
          <p:cNvSpPr txBox="1"/>
          <p:nvPr/>
        </p:nvSpPr>
        <p:spPr>
          <a:xfrm>
            <a:off x="1920240" y="2715768"/>
            <a:ext cx="9326880" cy="777240"/>
          </a:xfrm>
          <a:prstGeom prst="rect">
            <a:avLst/>
          </a:prstGeom>
          <a:noFill/>
        </p:spPr>
        <p:txBody>
          <a:bodyPr wrap="square" lIns="0" tIns="0" rIns="0" bIns="0">
            <a:spAutoFit/>
          </a:bodyPr>
          <a:lstStyle/>
          <a:p>
            <a:pPr>
              <a:defRPr sz="1400" b="1">
                <a:solidFill>
                  <a:srgbClr val="0F172A"/>
                </a:solidFill>
                <a:latin typeface="Arial"/>
              </a:defRPr>
            </a:pPr>
            <a:r>
              <a:t>CHƯƠNG 2: PHÂN TÍCH BÀI TOÁN</a:t>
            </a:r>
          </a:p>
          <a:p>
            <a:pPr>
              <a:spcBef>
                <a:spcPts val="200"/>
              </a:spcBef>
              <a:defRPr sz="1100">
                <a:solidFill>
                  <a:srgbClr val="64748B"/>
                </a:solidFill>
                <a:latin typeface="Arial"/>
              </a:defRPr>
            </a:pPr>
            <a:r>
              <a:t>Mô tả bài toán, chi tiết 5 phân hệ chức năng cốt lõi, yêu cầu phi chức năng (hiệu năng, bảo mật, an toàn vòng đời) và mô hình đối tượng.</a:t>
            </a:r>
          </a:p>
        </p:txBody>
      </p:sp>
      <p:sp>
        <p:nvSpPr>
          <p:cNvPr id="13" name="Rounded Rectangle 12"/>
          <p:cNvSpPr/>
          <p:nvPr/>
        </p:nvSpPr>
        <p:spPr>
          <a:xfrm>
            <a:off x="731520" y="3749039"/>
            <a:ext cx="10728655" cy="10058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960120" y="3913631"/>
            <a:ext cx="777240" cy="676656"/>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Arial"/>
              </a:defRPr>
            </a:pPr>
            <a:r>
              <a:t>03</a:t>
            </a:r>
          </a:p>
        </p:txBody>
      </p:sp>
      <p:sp>
        <p:nvSpPr>
          <p:cNvPr id="15" name="TextBox 14"/>
          <p:cNvSpPr txBox="1"/>
          <p:nvPr/>
        </p:nvSpPr>
        <p:spPr>
          <a:xfrm>
            <a:off x="1920240" y="3858767"/>
            <a:ext cx="9326880" cy="777240"/>
          </a:xfrm>
          <a:prstGeom prst="rect">
            <a:avLst/>
          </a:prstGeom>
          <a:noFill/>
        </p:spPr>
        <p:txBody>
          <a:bodyPr wrap="square" lIns="0" tIns="0" rIns="0" bIns="0">
            <a:spAutoFit/>
          </a:bodyPr>
          <a:lstStyle/>
          <a:p>
            <a:pPr>
              <a:defRPr sz="1400" b="1">
                <a:solidFill>
                  <a:srgbClr val="0F172A"/>
                </a:solidFill>
                <a:latin typeface="Arial"/>
              </a:defRPr>
            </a:pPr>
            <a:r>
              <a:t>CHƯƠNG 3: THIẾT KẾ HỆ THỐNG</a:t>
            </a:r>
          </a:p>
          <a:p>
            <a:pPr>
              <a:spcBef>
                <a:spcPts val="200"/>
              </a:spcBef>
              <a:defRPr sz="1100">
                <a:solidFill>
                  <a:srgbClr val="64748B"/>
                </a:solidFill>
                <a:latin typeface="Arial"/>
              </a:defRPr>
            </a:pPr>
            <a:r>
              <a:t>Kiến trúc tổng thể MVVM kết hợp UDF, thiết kế 10 ViewModels độc lập, thiết kế cơ sở dữ liệu SQLite Room 10 bảng có quan hệ chặt chẽ.</a:t>
            </a:r>
          </a:p>
        </p:txBody>
      </p:sp>
      <p:sp>
        <p:nvSpPr>
          <p:cNvPr id="16" name="Rounded Rectangle 15"/>
          <p:cNvSpPr/>
          <p:nvPr/>
        </p:nvSpPr>
        <p:spPr>
          <a:xfrm>
            <a:off x="731520" y="4892040"/>
            <a:ext cx="10728655" cy="10058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960120" y="5056632"/>
            <a:ext cx="777240" cy="676656"/>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Arial"/>
              </a:defRPr>
            </a:pPr>
            <a:r>
              <a:t>04</a:t>
            </a:r>
          </a:p>
        </p:txBody>
      </p:sp>
      <p:sp>
        <p:nvSpPr>
          <p:cNvPr id="18" name="TextBox 17"/>
          <p:cNvSpPr txBox="1"/>
          <p:nvPr/>
        </p:nvSpPr>
        <p:spPr>
          <a:xfrm>
            <a:off x="1920240" y="5001768"/>
            <a:ext cx="9326880" cy="777240"/>
          </a:xfrm>
          <a:prstGeom prst="rect">
            <a:avLst/>
          </a:prstGeom>
          <a:noFill/>
        </p:spPr>
        <p:txBody>
          <a:bodyPr wrap="square" lIns="0" tIns="0" rIns="0" bIns="0">
            <a:spAutoFit/>
          </a:bodyPr>
          <a:lstStyle/>
          <a:p>
            <a:pPr>
              <a:defRPr sz="1400" b="1">
                <a:solidFill>
                  <a:srgbClr val="0F172A"/>
                </a:solidFill>
                <a:latin typeface="Arial"/>
              </a:defRPr>
            </a:pPr>
            <a:r>
              <a:t>CHƯƠNG 4 &amp; KẾT LUẬN</a:t>
            </a:r>
          </a:p>
          <a:p>
            <a:pPr>
              <a:spcBef>
                <a:spcPts val="200"/>
              </a:spcBef>
              <a:defRPr sz="1100">
                <a:solidFill>
                  <a:srgbClr val="64748B"/>
                </a:solidFill>
                <a:latin typeface="Arial"/>
              </a:defRPr>
            </a:pPr>
            <a:r>
              <a:t>Ngăn xếp công nghệ Kotlin/Compose/Room, cấu trúc project, kiểm thử tự động 100% JVM test pass, đánh giá kết quả và hướng phát triển.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10728655" cy="822960"/>
          </a:xfrm>
          <a:prstGeom prst="rect">
            <a:avLst/>
          </a:prstGeom>
          <a:noFill/>
        </p:spPr>
        <p:txBody>
          <a:bodyPr wrap="square" lIns="0" tIns="0" rIns="0" bIns="0">
            <a:spAutoFit/>
          </a:bodyPr>
          <a:lstStyle/>
          <a:p>
            <a:pPr>
              <a:defRPr sz="1000" b="1">
                <a:solidFill>
                  <a:srgbClr val="E3562A"/>
                </a:solidFill>
                <a:latin typeface="Arial"/>
              </a:defRPr>
            </a:pPr>
            <a:r>
              <a:t>CHƯƠNG 1: GIỚI THIỆU ĐỀ TÀI</a:t>
            </a:r>
          </a:p>
          <a:p>
            <a:pPr>
              <a:spcBef>
                <a:spcPts val="300"/>
              </a:spcBef>
              <a:defRPr sz="2200" b="1">
                <a:solidFill>
                  <a:srgbClr val="0F172A"/>
                </a:solidFill>
                <a:latin typeface="Arial"/>
              </a:defRPr>
            </a:pPr>
            <a:r>
              <a:t>1.1. Lý do chọn đề tài &amp; Bài toán thực tế</a:t>
            </a:r>
          </a:p>
        </p:txBody>
      </p:sp>
      <p:sp>
        <p:nvSpPr>
          <p:cNvPr id="3" name="Rectangle 2"/>
          <p:cNvSpPr/>
          <p:nvPr/>
        </p:nvSpPr>
        <p:spPr>
          <a:xfrm>
            <a:off x="731520" y="1234440"/>
            <a:ext cx="10728655" cy="27432"/>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31520" y="1234440"/>
            <a:ext cx="1097280" cy="27432"/>
          </a:xfrm>
          <a:prstGeom prst="rect">
            <a:avLst/>
          </a:prstGeom>
          <a:solidFill>
            <a:srgbClr val="E356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6309360"/>
            <a:ext cx="10728655" cy="365760"/>
          </a:xfrm>
          <a:prstGeom prst="rect">
            <a:avLst/>
          </a:prstGeom>
          <a:noFill/>
        </p:spPr>
        <p:txBody>
          <a:bodyPr wrap="square" lIns="0" tIns="0" rIns="0" bIns="0">
            <a:spAutoFit/>
          </a:bodyPr>
          <a:lstStyle/>
          <a:p>
            <a:pPr>
              <a:defRPr sz="900">
                <a:solidFill>
                  <a:srgbClr val="64748B"/>
                </a:solidFill>
                <a:latin typeface="Arial"/>
              </a:defRPr>
            </a:pPr>
            <a:r>
              <a:t>Trường CĐ Kỹ thuật - Công nghệ Bách Khoa • Môn: Phát triển Ứng dụng Di động • Nhóm TT602-K16LT</a:t>
            </a:r>
          </a:p>
        </p:txBody>
      </p:sp>
      <p:sp>
        <p:nvSpPr>
          <p:cNvPr id="6" name="TextBox 5"/>
          <p:cNvSpPr txBox="1"/>
          <p:nvPr/>
        </p:nvSpPr>
        <p:spPr>
          <a:xfrm>
            <a:off x="10515600" y="6309360"/>
            <a:ext cx="914400" cy="365760"/>
          </a:xfrm>
          <a:prstGeom prst="rect">
            <a:avLst/>
          </a:prstGeom>
          <a:noFill/>
        </p:spPr>
        <p:txBody>
          <a:bodyPr wrap="none" lIns="0" tIns="0" rIns="0" bIns="0">
            <a:spAutoFit/>
          </a:bodyPr>
          <a:lstStyle/>
          <a:p>
            <a:pPr algn="r">
              <a:defRPr sz="900" b="1">
                <a:solidFill>
                  <a:srgbClr val="E3562A"/>
                </a:solidFill>
                <a:latin typeface="Arial"/>
              </a:defRPr>
            </a:pPr>
            <a:r>
              <a:t>03 / 19</a:t>
            </a:r>
          </a:p>
        </p:txBody>
      </p:sp>
      <p:sp>
        <p:nvSpPr>
          <p:cNvPr id="7" name="Rounded Rectangle 6"/>
          <p:cNvSpPr/>
          <p:nvPr/>
        </p:nvSpPr>
        <p:spPr>
          <a:xfrm>
            <a:off x="731520" y="1417320"/>
            <a:ext cx="10728655" cy="868680"/>
          </a:xfrm>
          <a:prstGeom prst="roundRect">
            <a:avLst/>
          </a:prstGeom>
          <a:solidFill>
            <a:srgbClr val="FFF7ED"/>
          </a:solidFill>
          <a:ln w="12700">
            <a:solidFill>
              <a:srgbClr val="FED7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1508760"/>
            <a:ext cx="10362895" cy="685800"/>
          </a:xfrm>
          <a:prstGeom prst="rect">
            <a:avLst/>
          </a:prstGeom>
          <a:noFill/>
        </p:spPr>
        <p:txBody>
          <a:bodyPr wrap="square">
            <a:spAutoFit/>
          </a:bodyPr>
          <a:lstStyle/>
          <a:p>
            <a:pPr>
              <a:defRPr sz="1000" b="1">
                <a:solidFill>
                  <a:srgbClr val="C2410C"/>
                </a:solidFill>
                <a:latin typeface="Arial"/>
              </a:defRPr>
            </a:pPr>
            <a:r>
              <a:t>BỐI CẢNH THỰC TẾ TRONG GIAN BẾP HIỆN ĐẠI:</a:t>
            </a:r>
          </a:p>
          <a:p>
            <a:pPr>
              <a:spcBef>
                <a:spcPts val="200"/>
              </a:spcBef>
              <a:defRPr sz="1100">
                <a:solidFill>
                  <a:srgbClr val="0F172A"/>
                </a:solidFill>
                <a:latin typeface="Arial"/>
              </a:defRPr>
            </a:pPr>
            <a:r>
              <a:t>Người nội trợ và các bạn trẻ sống tự lập thường xuyên đối mặt với 3 câu hỏi nan giải: "Hôm nay ăn gì?", "Tủ lạnh còn nguyên liệu gì và nấu được món gì?", và "Làm sao lưu giữ các công thức nấu ăn sáng tạo của riêng mình?"</a:t>
            </a:r>
          </a:p>
        </p:txBody>
      </p:sp>
      <p:sp>
        <p:nvSpPr>
          <p:cNvPr id="9" name="Rounded Rectangle 8"/>
          <p:cNvSpPr/>
          <p:nvPr/>
        </p:nvSpPr>
        <p:spPr>
          <a:xfrm>
            <a:off x="731520" y="2423160"/>
            <a:ext cx="5285232" cy="1417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731520" y="2606040"/>
            <a:ext cx="73152" cy="1051560"/>
          </a:xfrm>
          <a:prstGeom prst="rect">
            <a:avLst/>
          </a:prstGeom>
          <a:solidFill>
            <a:srgbClr val="E356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60120" y="2560320"/>
            <a:ext cx="4892040" cy="1143000"/>
          </a:xfrm>
          <a:prstGeom prst="rect">
            <a:avLst/>
          </a:prstGeom>
          <a:noFill/>
        </p:spPr>
        <p:txBody>
          <a:bodyPr wrap="square">
            <a:spAutoFit/>
          </a:bodyPr>
          <a:lstStyle/>
          <a:p>
            <a:pPr>
              <a:defRPr sz="1300" b="1">
                <a:solidFill>
                  <a:srgbClr val="0F172A"/>
                </a:solidFill>
                <a:latin typeface="Arial"/>
              </a:defRPr>
            </a:pPr>
            <a:r>
              <a:t>1. Phụ thuộc 100% vào Internet</a:t>
            </a:r>
          </a:p>
          <a:p>
            <a:pPr>
              <a:spcBef>
                <a:spcPts val="400"/>
              </a:spcBef>
              <a:defRPr sz="1100">
                <a:solidFill>
                  <a:srgbClr val="64748B"/>
                </a:solidFill>
                <a:latin typeface="Arial"/>
              </a:defRPr>
            </a:pPr>
            <a:r>
              <a:t>Khi vào bếp, tầng hầm hoặc khu vực sóng yếu, người dùng hoàn toàn không thể tra cứu công thức đang nấu.</a:t>
            </a:r>
          </a:p>
        </p:txBody>
      </p:sp>
      <p:sp>
        <p:nvSpPr>
          <p:cNvPr id="12" name="Rounded Rectangle 11"/>
          <p:cNvSpPr/>
          <p:nvPr/>
        </p:nvSpPr>
        <p:spPr>
          <a:xfrm>
            <a:off x="6172200" y="2423160"/>
            <a:ext cx="5285232" cy="1417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172200" y="2606040"/>
            <a:ext cx="73152" cy="105156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00800" y="2560320"/>
            <a:ext cx="4892040" cy="1143000"/>
          </a:xfrm>
          <a:prstGeom prst="rect">
            <a:avLst/>
          </a:prstGeom>
          <a:noFill/>
        </p:spPr>
        <p:txBody>
          <a:bodyPr wrap="square">
            <a:spAutoFit/>
          </a:bodyPr>
          <a:lstStyle/>
          <a:p>
            <a:pPr>
              <a:defRPr sz="1300" b="1">
                <a:solidFill>
                  <a:srgbClr val="0F172A"/>
                </a:solidFill>
                <a:latin typeface="Arial"/>
              </a:defRPr>
            </a:pPr>
            <a:r>
              <a:t>2. Thiếu kết nối kho Tủ lạnh</a:t>
            </a:r>
          </a:p>
          <a:p>
            <a:pPr>
              <a:spcBef>
                <a:spcPts val="400"/>
              </a:spcBef>
              <a:defRPr sz="1100">
                <a:solidFill>
                  <a:srgbClr val="64748B"/>
                </a:solidFill>
                <a:latin typeface="Arial"/>
              </a:defRPr>
            </a:pPr>
            <a:r>
              <a:t>Các app hiện có tách rời kho thực phẩm với công thức, không chỉ ra được nguyên liệu sẵn có nấu được món gì.</a:t>
            </a:r>
          </a:p>
        </p:txBody>
      </p:sp>
      <p:sp>
        <p:nvSpPr>
          <p:cNvPr id="15" name="Rounded Rectangle 14"/>
          <p:cNvSpPr/>
          <p:nvPr/>
        </p:nvSpPr>
        <p:spPr>
          <a:xfrm>
            <a:off x="731520" y="3977639"/>
            <a:ext cx="5285232" cy="1417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731520" y="4160519"/>
            <a:ext cx="73152" cy="10515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60120" y="4114799"/>
            <a:ext cx="4892040" cy="1143000"/>
          </a:xfrm>
          <a:prstGeom prst="rect">
            <a:avLst/>
          </a:prstGeom>
          <a:noFill/>
        </p:spPr>
        <p:txBody>
          <a:bodyPr wrap="square">
            <a:spAutoFit/>
          </a:bodyPr>
          <a:lstStyle/>
          <a:p>
            <a:pPr>
              <a:defRPr sz="1300" b="1">
                <a:solidFill>
                  <a:srgbClr val="0F172A"/>
                </a:solidFill>
                <a:latin typeface="Arial"/>
              </a:defRPr>
            </a:pPr>
            <a:r>
              <a:t>3. Quảng cáo gián đoạn &amp; Lag UI</a:t>
            </a:r>
          </a:p>
          <a:p>
            <a:pPr>
              <a:spcBef>
                <a:spcPts val="400"/>
              </a:spcBef>
              <a:defRPr sz="1100">
                <a:solidFill>
                  <a:srgbClr val="64748B"/>
                </a:solidFill>
                <a:latin typeface="Arial"/>
              </a:defRPr>
            </a:pPr>
            <a:r>
              <a:t>Trải nghiệm bị phân tâm bởi banner quảng cáo video, thao tác giật lag khi đang bận tay ướt làm bếp.</a:t>
            </a:r>
          </a:p>
        </p:txBody>
      </p:sp>
      <p:sp>
        <p:nvSpPr>
          <p:cNvPr id="18" name="Rounded Rectangle 17"/>
          <p:cNvSpPr/>
          <p:nvPr/>
        </p:nvSpPr>
        <p:spPr>
          <a:xfrm>
            <a:off x="6172200" y="3977639"/>
            <a:ext cx="5285232" cy="1417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172200" y="4160519"/>
            <a:ext cx="73152" cy="105156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400800" y="4114799"/>
            <a:ext cx="4892040" cy="1143000"/>
          </a:xfrm>
          <a:prstGeom prst="rect">
            <a:avLst/>
          </a:prstGeom>
          <a:noFill/>
        </p:spPr>
        <p:txBody>
          <a:bodyPr wrap="square">
            <a:spAutoFit/>
          </a:bodyPr>
          <a:lstStyle/>
          <a:p>
            <a:pPr>
              <a:defRPr sz="1300" b="1">
                <a:solidFill>
                  <a:srgbClr val="0F172A"/>
                </a:solidFill>
                <a:latin typeface="Arial"/>
              </a:defRPr>
            </a:pPr>
            <a:r>
              <a:t>4. Thiếu Trợ lý AI cá nhân hóa</a:t>
            </a:r>
          </a:p>
          <a:p>
            <a:pPr>
              <a:spcBef>
                <a:spcPts val="400"/>
              </a:spcBef>
              <a:defRPr sz="1100">
                <a:solidFill>
                  <a:srgbClr val="64748B"/>
                </a:solidFill>
                <a:latin typeface="Arial"/>
              </a:defRPr>
            </a:pPr>
            <a:r>
              <a:t>Không tận dụng được sức mạnh LLM để gợi ý thực đơn linh hoạt theo hạn dùng nguyên liệu và sở thích cá nhân.</a:t>
            </a:r>
          </a:p>
        </p:txBody>
      </p:sp>
      <p:sp>
        <p:nvSpPr>
          <p:cNvPr id="21" name="Rounded Rectangle 20"/>
          <p:cNvSpPr/>
          <p:nvPr/>
        </p:nvSpPr>
        <p:spPr>
          <a:xfrm>
            <a:off x="731520" y="5623560"/>
            <a:ext cx="10728655" cy="594360"/>
          </a:xfrm>
          <a:prstGeom prst="roundRect">
            <a:avLst/>
          </a:prstGeom>
          <a:solidFill>
            <a:srgbClr val="F0FDFA"/>
          </a:solidFill>
          <a:ln w="1270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14400" y="5687568"/>
            <a:ext cx="10362895" cy="457200"/>
          </a:xfrm>
          <a:prstGeom prst="rect">
            <a:avLst/>
          </a:prstGeom>
          <a:noFill/>
        </p:spPr>
        <p:txBody>
          <a:bodyPr wrap="none">
            <a:spAutoFit/>
          </a:bodyPr>
          <a:lstStyle/>
          <a:p>
            <a:pPr>
              <a:defRPr sz="1100" b="1">
                <a:solidFill>
                  <a:srgbClr val="0F766E"/>
                </a:solidFill>
                <a:latin typeface="Arial"/>
              </a:defRPr>
            </a:pPr>
            <a:r>
              <a:t>→ GIẢI PHÁP COOKING NOTE: Kiến trúc Offline-first bền bỉ + Tích hợp Trợ lý AI đa nền tảng + Thuật toán gợi ý ngoại tuyến.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10728655" cy="822960"/>
          </a:xfrm>
          <a:prstGeom prst="rect">
            <a:avLst/>
          </a:prstGeom>
          <a:noFill/>
        </p:spPr>
        <p:txBody>
          <a:bodyPr wrap="square" lIns="0" tIns="0" rIns="0" bIns="0">
            <a:spAutoFit/>
          </a:bodyPr>
          <a:lstStyle/>
          <a:p>
            <a:pPr>
              <a:defRPr sz="1000" b="1">
                <a:solidFill>
                  <a:srgbClr val="E3562A"/>
                </a:solidFill>
                <a:latin typeface="Arial"/>
              </a:defRPr>
            </a:pPr>
            <a:r>
              <a:t>CHƯƠNG 1: GIỚI THIỆU ĐỀ TÀI</a:t>
            </a:r>
          </a:p>
          <a:p>
            <a:pPr>
              <a:spcBef>
                <a:spcPts val="300"/>
              </a:spcBef>
              <a:defRPr sz="2200" b="1">
                <a:solidFill>
                  <a:srgbClr val="0F172A"/>
                </a:solidFill>
                <a:latin typeface="Arial"/>
              </a:defRPr>
            </a:pPr>
            <a:r>
              <a:t>1.2. Mục tiêu nghiên cứu &amp; Chuẩn đầu ra</a:t>
            </a:r>
          </a:p>
        </p:txBody>
      </p:sp>
      <p:sp>
        <p:nvSpPr>
          <p:cNvPr id="3" name="Rectangle 2"/>
          <p:cNvSpPr/>
          <p:nvPr/>
        </p:nvSpPr>
        <p:spPr>
          <a:xfrm>
            <a:off x="731520" y="1234440"/>
            <a:ext cx="10728655" cy="27432"/>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31520" y="1234440"/>
            <a:ext cx="1097280" cy="27432"/>
          </a:xfrm>
          <a:prstGeom prst="rect">
            <a:avLst/>
          </a:prstGeom>
          <a:solidFill>
            <a:srgbClr val="E356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6309360"/>
            <a:ext cx="10728655" cy="365760"/>
          </a:xfrm>
          <a:prstGeom prst="rect">
            <a:avLst/>
          </a:prstGeom>
          <a:noFill/>
        </p:spPr>
        <p:txBody>
          <a:bodyPr wrap="square" lIns="0" tIns="0" rIns="0" bIns="0">
            <a:spAutoFit/>
          </a:bodyPr>
          <a:lstStyle/>
          <a:p>
            <a:pPr>
              <a:defRPr sz="900">
                <a:solidFill>
                  <a:srgbClr val="64748B"/>
                </a:solidFill>
                <a:latin typeface="Arial"/>
              </a:defRPr>
            </a:pPr>
            <a:r>
              <a:t>Trường CĐ Kỹ thuật - Công nghệ Bách Khoa • Môn: Phát triển Ứng dụng Di động • Nhóm TT602-K16LT</a:t>
            </a:r>
          </a:p>
        </p:txBody>
      </p:sp>
      <p:sp>
        <p:nvSpPr>
          <p:cNvPr id="6" name="TextBox 5"/>
          <p:cNvSpPr txBox="1"/>
          <p:nvPr/>
        </p:nvSpPr>
        <p:spPr>
          <a:xfrm>
            <a:off x="10515600" y="6309360"/>
            <a:ext cx="914400" cy="365760"/>
          </a:xfrm>
          <a:prstGeom prst="rect">
            <a:avLst/>
          </a:prstGeom>
          <a:noFill/>
        </p:spPr>
        <p:txBody>
          <a:bodyPr wrap="none" lIns="0" tIns="0" rIns="0" bIns="0">
            <a:spAutoFit/>
          </a:bodyPr>
          <a:lstStyle/>
          <a:p>
            <a:pPr algn="r">
              <a:defRPr sz="900" b="1">
                <a:solidFill>
                  <a:srgbClr val="E3562A"/>
                </a:solidFill>
                <a:latin typeface="Arial"/>
              </a:defRPr>
            </a:pPr>
            <a:r>
              <a:t>04 / 19</a:t>
            </a:r>
          </a:p>
        </p:txBody>
      </p:sp>
      <p:sp>
        <p:nvSpPr>
          <p:cNvPr id="7" name="Rounded Rectangle 6"/>
          <p:cNvSpPr/>
          <p:nvPr/>
        </p:nvSpPr>
        <p:spPr>
          <a:xfrm>
            <a:off x="731520" y="1463040"/>
            <a:ext cx="5257800" cy="46177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05840" y="1645920"/>
            <a:ext cx="4709160" cy="4206240"/>
          </a:xfrm>
          <a:prstGeom prst="rect">
            <a:avLst/>
          </a:prstGeom>
          <a:noFill/>
        </p:spPr>
        <p:txBody>
          <a:bodyPr wrap="square">
            <a:spAutoFit/>
          </a:bodyPr>
          <a:lstStyle/>
          <a:p>
            <a:pPr>
              <a:defRPr sz="1400" b="1">
                <a:solidFill>
                  <a:srgbClr val="C2410C"/>
                </a:solidFill>
                <a:latin typeface="Arial"/>
              </a:defRPr>
            </a:pPr>
            <a:r>
              <a:t>MỤC TIÊU VỀ MẶT KIẾN THỨC</a:t>
            </a:r>
          </a:p>
          <a:p>
            <a:pPr>
              <a:spcBef>
                <a:spcPts val="800"/>
              </a:spcBef>
              <a:defRPr sz="1100" b="1">
                <a:solidFill>
                  <a:srgbClr val="0F172A"/>
                </a:solidFill>
                <a:latin typeface="Arial"/>
              </a:defRPr>
            </a:pPr>
            <a:r>
              <a:t>• Mô hình kiến trúc MVVM + UDF: </a:t>
            </a:r>
          </a:p>
          <a:p>
            <a:pPr>
              <a:defRPr sz="1000">
                <a:solidFill>
                  <a:srgbClr val="64748B"/>
                </a:solidFill>
                <a:latin typeface="Arial"/>
              </a:defRPr>
            </a:pPr>
            <a:r>
              <a:t>  Hiểu sâu sắc và áp dụng chuẩn mực Unidirectional Data Flow (State Down, Events Up) theo khuyến nghị chính thức từ Google.</a:t>
            </a:r>
          </a:p>
          <a:p>
            <a:pPr>
              <a:spcBef>
                <a:spcPts val="800"/>
              </a:spcBef>
              <a:defRPr sz="1100" b="1">
                <a:solidFill>
                  <a:srgbClr val="0F172A"/>
                </a:solidFill>
                <a:latin typeface="Arial"/>
              </a:defRPr>
            </a:pPr>
            <a:r>
              <a:t>• Lưu trữ Offline bền bỉ (Room 2.6.1): </a:t>
            </a:r>
          </a:p>
          <a:p>
            <a:pPr>
              <a:defRPr sz="1000">
                <a:solidFill>
                  <a:srgbClr val="64748B"/>
                </a:solidFill>
                <a:latin typeface="Arial"/>
              </a:defRPr>
            </a:pPr>
            <a:r>
              <a:t>  Thành thạo cơ chế SQLite ORM, KSP (Kotlin Symbol Processing), xử lý quan hệ 1-N, N-N, Foreign Key Cascade và TypeConverters.</a:t>
            </a:r>
          </a:p>
          <a:p>
            <a:pPr>
              <a:spcBef>
                <a:spcPts val="800"/>
              </a:spcBef>
              <a:defRPr sz="1100" b="1">
                <a:solidFill>
                  <a:srgbClr val="0F172A"/>
                </a:solidFill>
                <a:latin typeface="Arial"/>
              </a:defRPr>
            </a:pPr>
            <a:r>
              <a:t>• Lập trình bất đồng bộ phản ứng: </a:t>
            </a:r>
          </a:p>
          <a:p>
            <a:pPr>
              <a:defRPr sz="1000">
                <a:solidFill>
                  <a:srgbClr val="64748B"/>
                </a:solidFill>
                <a:latin typeface="Arial"/>
              </a:defRPr>
            </a:pPr>
            <a:r>
              <a:t>  Làm chủ Kotlin Coroutines, StateFlow, SharingStarted.WhileSubscribed và collectAsStateWithLifecycle.</a:t>
            </a:r>
          </a:p>
          <a:p>
            <a:pPr>
              <a:spcBef>
                <a:spcPts val="800"/>
              </a:spcBef>
              <a:defRPr sz="1100" b="1">
                <a:solidFill>
                  <a:srgbClr val="0F172A"/>
                </a:solidFill>
                <a:latin typeface="Arial"/>
              </a:defRPr>
            </a:pPr>
            <a:r>
              <a:t>• Tích hợp AI &amp; Bảo mật cấp cao: </a:t>
            </a:r>
          </a:p>
          <a:p>
            <a:pPr>
              <a:defRPr sz="1000">
                <a:solidFill>
                  <a:srgbClr val="64748B"/>
                </a:solidFill>
                <a:latin typeface="Arial"/>
              </a:defRPr>
            </a:pPr>
            <a:r>
              <a:t>  Kết nối RESTful API với các LLM hàng đầu (OpenAI, Anthropic Claude, Google Gemini) và bảo mật mã khóa bằng EncryptedSharedPreferences (AES-256).</a:t>
            </a:r>
          </a:p>
        </p:txBody>
      </p:sp>
      <p:sp>
        <p:nvSpPr>
          <p:cNvPr id="9" name="Rounded Rectangle 8"/>
          <p:cNvSpPr/>
          <p:nvPr/>
        </p:nvSpPr>
        <p:spPr>
          <a:xfrm>
            <a:off x="6199632" y="1463040"/>
            <a:ext cx="5257800" cy="46177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73952" y="1645920"/>
            <a:ext cx="4709160" cy="4206240"/>
          </a:xfrm>
          <a:prstGeom prst="rect">
            <a:avLst/>
          </a:prstGeom>
          <a:noFill/>
        </p:spPr>
        <p:txBody>
          <a:bodyPr wrap="square">
            <a:spAutoFit/>
          </a:bodyPr>
          <a:lstStyle/>
          <a:p>
            <a:pPr>
              <a:defRPr sz="1400" b="1">
                <a:solidFill>
                  <a:srgbClr val="10B981"/>
                </a:solidFill>
                <a:latin typeface="Arial"/>
              </a:defRPr>
            </a:pPr>
            <a:r>
              <a:t>MỤC TIÊU VỀ MẶT KỸ NĂNG THỰC HÀNH</a:t>
            </a:r>
          </a:p>
          <a:p>
            <a:pPr>
              <a:spcBef>
                <a:spcPts val="800"/>
              </a:spcBef>
              <a:defRPr sz="1100" b="1">
                <a:solidFill>
                  <a:srgbClr val="0F172A"/>
                </a:solidFill>
                <a:latin typeface="Arial"/>
              </a:defRPr>
            </a:pPr>
            <a:r>
              <a:t>• Thiết kế hệ thống di động chuyên nghiệp: </a:t>
            </a:r>
          </a:p>
          <a:p>
            <a:pPr>
              <a:defRPr sz="1000">
                <a:solidFill>
                  <a:srgbClr val="64748B"/>
                </a:solidFill>
                <a:latin typeface="Arial"/>
              </a:defRPr>
            </a:pPr>
            <a:r>
              <a:t>  Phân tích, phân rã phân hệ chức năng, thiết kế lược đồ quan hệ thực thể (ERD) và giao diện Material 3 hiện đại.</a:t>
            </a:r>
          </a:p>
          <a:p>
            <a:pPr>
              <a:spcBef>
                <a:spcPts val="800"/>
              </a:spcBef>
              <a:defRPr sz="1100" b="1">
                <a:solidFill>
                  <a:srgbClr val="0F172A"/>
                </a:solidFill>
                <a:latin typeface="Arial"/>
              </a:defRPr>
            </a:pPr>
            <a:r>
              <a:t>• Hạ tầng kiểm thử tự động 100% JVM Pass: </a:t>
            </a:r>
          </a:p>
          <a:p>
            <a:pPr>
              <a:defRPr sz="1000">
                <a:solidFill>
                  <a:srgbClr val="64748B"/>
                </a:solidFill>
                <a:latin typeface="Arial"/>
              </a:defRPr>
            </a:pPr>
            <a:r>
              <a:t>  Xây dựng hơn 100 bài Unit Test kiểm thử tầng Repository, ViewModel, Turbine, MockK và source-parsing conformance tests.</a:t>
            </a:r>
          </a:p>
          <a:p>
            <a:pPr>
              <a:spcBef>
                <a:spcPts val="800"/>
              </a:spcBef>
              <a:defRPr sz="1100" b="1">
                <a:solidFill>
                  <a:srgbClr val="0F172A"/>
                </a:solidFill>
                <a:latin typeface="Arial"/>
              </a:defRPr>
            </a:pPr>
            <a:r>
              <a:t>• Quy chuẩn viết mã &amp; Quản trị phiên bản: </a:t>
            </a:r>
          </a:p>
          <a:p>
            <a:pPr>
              <a:defRPr sz="1000">
                <a:solidFill>
                  <a:srgbClr val="64748B"/>
                </a:solidFill>
                <a:latin typeface="Arial"/>
              </a:defRPr>
            </a:pPr>
            <a:r>
              <a:t>  Tuân thủ nghiêm ngặt chuẩn Kotlin Official Code Style, quản lý mã nguồn chuyên nghiệp bằng Git/GitHub.</a:t>
            </a:r>
          </a:p>
          <a:p>
            <a:pPr>
              <a:spcBef>
                <a:spcPts val="800"/>
              </a:spcBef>
              <a:defRPr sz="1100" b="1">
                <a:solidFill>
                  <a:srgbClr val="0F172A"/>
                </a:solidFill>
                <a:latin typeface="Arial"/>
              </a:defRPr>
            </a:pPr>
            <a:r>
              <a:t>• Tư duy kỹ thuật Offline-First: </a:t>
            </a:r>
          </a:p>
          <a:p>
            <a:pPr>
              <a:defRPr sz="1000">
                <a:solidFill>
                  <a:srgbClr val="64748B"/>
                </a:solidFill>
                <a:latin typeface="Arial"/>
              </a:defRPr>
            </a:pPr>
            <a:r>
              <a:t>  Xây dựng ứng dụng hoàn toàn không bị gián đoạn trải nghiệm kể cả khi ngắt kết nối mạng hoàn toàn.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10728655" cy="822960"/>
          </a:xfrm>
          <a:prstGeom prst="rect">
            <a:avLst/>
          </a:prstGeom>
          <a:noFill/>
        </p:spPr>
        <p:txBody>
          <a:bodyPr wrap="square" lIns="0" tIns="0" rIns="0" bIns="0">
            <a:spAutoFit/>
          </a:bodyPr>
          <a:lstStyle/>
          <a:p>
            <a:pPr>
              <a:defRPr sz="1000" b="1">
                <a:solidFill>
                  <a:srgbClr val="E3562A"/>
                </a:solidFill>
                <a:latin typeface="Arial"/>
              </a:defRPr>
            </a:pPr>
            <a:r>
              <a:t>CHƯƠNG 1: GIỚI THIỆU ĐỀ TÀI</a:t>
            </a:r>
          </a:p>
          <a:p>
            <a:pPr>
              <a:spcBef>
                <a:spcPts val="300"/>
              </a:spcBef>
              <a:defRPr sz="2200" b="1">
                <a:solidFill>
                  <a:srgbClr val="0F172A"/>
                </a:solidFill>
                <a:latin typeface="Arial"/>
              </a:defRPr>
            </a:pPr>
            <a:r>
              <a:t>1.3. Phạm vi đề tài &amp; Đối tượng người dùng</a:t>
            </a:r>
          </a:p>
        </p:txBody>
      </p:sp>
      <p:sp>
        <p:nvSpPr>
          <p:cNvPr id="3" name="Rectangle 2"/>
          <p:cNvSpPr/>
          <p:nvPr/>
        </p:nvSpPr>
        <p:spPr>
          <a:xfrm>
            <a:off x="731520" y="1234440"/>
            <a:ext cx="10728655" cy="27432"/>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31520" y="1234440"/>
            <a:ext cx="1097280" cy="27432"/>
          </a:xfrm>
          <a:prstGeom prst="rect">
            <a:avLst/>
          </a:prstGeom>
          <a:solidFill>
            <a:srgbClr val="E356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6309360"/>
            <a:ext cx="10728655" cy="365760"/>
          </a:xfrm>
          <a:prstGeom prst="rect">
            <a:avLst/>
          </a:prstGeom>
          <a:noFill/>
        </p:spPr>
        <p:txBody>
          <a:bodyPr wrap="square" lIns="0" tIns="0" rIns="0" bIns="0">
            <a:spAutoFit/>
          </a:bodyPr>
          <a:lstStyle/>
          <a:p>
            <a:pPr>
              <a:defRPr sz="900">
                <a:solidFill>
                  <a:srgbClr val="64748B"/>
                </a:solidFill>
                <a:latin typeface="Arial"/>
              </a:defRPr>
            </a:pPr>
            <a:r>
              <a:t>Trường CĐ Kỹ thuật - Công nghệ Bách Khoa • Môn: Phát triển Ứng dụng Di động • Nhóm TT602-K16LT</a:t>
            </a:r>
          </a:p>
        </p:txBody>
      </p:sp>
      <p:sp>
        <p:nvSpPr>
          <p:cNvPr id="6" name="TextBox 5"/>
          <p:cNvSpPr txBox="1"/>
          <p:nvPr/>
        </p:nvSpPr>
        <p:spPr>
          <a:xfrm>
            <a:off x="10515600" y="6309360"/>
            <a:ext cx="914400" cy="365760"/>
          </a:xfrm>
          <a:prstGeom prst="rect">
            <a:avLst/>
          </a:prstGeom>
          <a:noFill/>
        </p:spPr>
        <p:txBody>
          <a:bodyPr wrap="none" lIns="0" tIns="0" rIns="0" bIns="0">
            <a:spAutoFit/>
          </a:bodyPr>
          <a:lstStyle/>
          <a:p>
            <a:pPr algn="r">
              <a:defRPr sz="900" b="1">
                <a:solidFill>
                  <a:srgbClr val="E3562A"/>
                </a:solidFill>
                <a:latin typeface="Arial"/>
              </a:defRPr>
            </a:pPr>
            <a:r>
              <a:t>05 / 19</a:t>
            </a:r>
          </a:p>
        </p:txBody>
      </p:sp>
      <p:sp>
        <p:nvSpPr>
          <p:cNvPr id="7" name="Rounded Rectangle 6"/>
          <p:cNvSpPr/>
          <p:nvPr/>
        </p:nvSpPr>
        <p:spPr>
          <a:xfrm>
            <a:off x="731520" y="1463040"/>
            <a:ext cx="3456432" cy="46177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914400" y="1645920"/>
            <a:ext cx="3090672" cy="502920"/>
          </a:xfrm>
          <a:prstGeom prst="roundRect">
            <a:avLst/>
          </a:prstGeom>
          <a:solidFill>
            <a:srgbClr val="E356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Arial"/>
              </a:defRPr>
            </a:pPr>
            <a:r>
              <a:t>PHẠM VI CÔNG NGHỆ</a:t>
            </a:r>
          </a:p>
        </p:txBody>
      </p:sp>
      <p:sp>
        <p:nvSpPr>
          <p:cNvPr id="9" name="TextBox 8"/>
          <p:cNvSpPr txBox="1"/>
          <p:nvPr/>
        </p:nvSpPr>
        <p:spPr>
          <a:xfrm>
            <a:off x="914400" y="2240280"/>
            <a:ext cx="3090672" cy="3657600"/>
          </a:xfrm>
          <a:prstGeom prst="rect">
            <a:avLst/>
          </a:prstGeom>
          <a:noFill/>
        </p:spPr>
        <p:txBody>
          <a:bodyPr wrap="square">
            <a:spAutoFit/>
          </a:bodyPr>
          <a:lstStyle/>
          <a:p>
            <a:pPr>
              <a:defRPr sz="1100" b="1">
                <a:solidFill>
                  <a:srgbClr val="0F172A"/>
                </a:solidFill>
                <a:latin typeface="Arial"/>
              </a:defRPr>
            </a:pPr>
            <a:r>
              <a:t>✓ Lưu trữ SQLite Room Cục bộ:</a:t>
            </a:r>
          </a:p>
          <a:p>
            <a:pPr>
              <a:spcBef>
                <a:spcPts val="200"/>
              </a:spcBef>
              <a:defRPr sz="1000">
                <a:solidFill>
                  <a:srgbClr val="64748B"/>
                </a:solidFill>
                <a:latin typeface="Arial"/>
              </a:defRPr>
            </a:pPr>
            <a:r>
              <a:t>Xây dựng cơ sở dữ liệu nội bộ 10 bảng toàn vẹn, hỗ trợ Cascade Delete và Transaction an toàn.</a:t>
            </a:r>
          </a:p>
          <a:p>
            <a:pPr>
              <a:spcBef>
                <a:spcPts val="800"/>
              </a:spcBef>
              <a:defRPr sz="1100" b="1">
                <a:solidFill>
                  <a:srgbClr val="0F172A"/>
                </a:solidFill>
                <a:latin typeface="Arial"/>
              </a:defRPr>
            </a:pPr>
            <a:r>
              <a:t>✓ Mô hình Offline-First:</a:t>
            </a:r>
          </a:p>
          <a:p>
            <a:pPr>
              <a:spcBef>
                <a:spcPts val="200"/>
              </a:spcBef>
              <a:defRPr sz="1000">
                <a:solidFill>
                  <a:srgbClr val="64748B"/>
                </a:solidFill>
                <a:latin typeface="Arial"/>
              </a:defRPr>
            </a:pPr>
            <a:r>
              <a:t>100% tính năng CRUD, quản lý kho tủ lạnh, lịch sử nấu và tìm kiếm hoạt động độc lập không cần mạng.</a:t>
            </a:r>
          </a:p>
          <a:p>
            <a:pPr>
              <a:spcBef>
                <a:spcPts val="800"/>
              </a:spcBef>
              <a:defRPr sz="1100" b="1">
                <a:solidFill>
                  <a:srgbClr val="0F172A"/>
                </a:solidFill>
                <a:latin typeface="Arial"/>
              </a:defRPr>
            </a:pPr>
            <a:r>
              <a:t>✓ Multi-Provider AI Subsystem:</a:t>
            </a:r>
          </a:p>
          <a:p>
            <a:pPr>
              <a:spcBef>
                <a:spcPts val="200"/>
              </a:spcBef>
              <a:defRPr sz="1000">
                <a:solidFill>
                  <a:srgbClr val="64748B"/>
                </a:solidFill>
                <a:latin typeface="Arial"/>
              </a:defRPr>
            </a:pPr>
            <a:r>
              <a:t>Hỗ trợ 4 nhà cung cấp AI lớn (OpenAI Chat, OpenAI Responses, Anthropic Claude, Google Gemini) kèm fallback Rule-based.</a:t>
            </a:r>
          </a:p>
        </p:txBody>
      </p:sp>
      <p:sp>
        <p:nvSpPr>
          <p:cNvPr id="10" name="Rounded Rectangle 9"/>
          <p:cNvSpPr/>
          <p:nvPr/>
        </p:nvSpPr>
        <p:spPr>
          <a:xfrm>
            <a:off x="4370832" y="1463040"/>
            <a:ext cx="3456432" cy="46177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4553712" y="1645920"/>
            <a:ext cx="3090672" cy="50292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Arial"/>
              </a:defRPr>
            </a:pPr>
            <a:r>
              <a:t>ĐỐI TƯỢNG NGƯỜI DÙNG</a:t>
            </a:r>
          </a:p>
        </p:txBody>
      </p:sp>
      <p:sp>
        <p:nvSpPr>
          <p:cNvPr id="12" name="TextBox 11"/>
          <p:cNvSpPr txBox="1"/>
          <p:nvPr/>
        </p:nvSpPr>
        <p:spPr>
          <a:xfrm>
            <a:off x="4553712" y="2240280"/>
            <a:ext cx="3090672" cy="3657600"/>
          </a:xfrm>
          <a:prstGeom prst="rect">
            <a:avLst/>
          </a:prstGeom>
          <a:noFill/>
        </p:spPr>
        <p:txBody>
          <a:bodyPr wrap="square">
            <a:spAutoFit/>
          </a:bodyPr>
          <a:lstStyle/>
          <a:p>
            <a:pPr>
              <a:defRPr sz="1100" b="1">
                <a:solidFill>
                  <a:srgbClr val="0F172A"/>
                </a:solidFill>
                <a:latin typeface="Arial"/>
              </a:defRPr>
            </a:pPr>
            <a:r>
              <a:t>✓ Người nội trợ gia đình:</a:t>
            </a:r>
          </a:p>
          <a:p>
            <a:pPr>
              <a:spcBef>
                <a:spcPts val="200"/>
              </a:spcBef>
              <a:defRPr sz="1000">
                <a:solidFill>
                  <a:srgbClr val="64748B"/>
                </a:solidFill>
                <a:latin typeface="Arial"/>
              </a:defRPr>
            </a:pPr>
            <a:r>
              <a:t>Cần công cụ quản lý bữa ăn hàng ngày, theo dõi hạn sử dụng nguyên liệu trong tủ lạnh để chống lãng phí thực phẩm.</a:t>
            </a:r>
          </a:p>
          <a:p>
            <a:pPr>
              <a:spcBef>
                <a:spcPts val="800"/>
              </a:spcBef>
              <a:defRPr sz="1100" b="1">
                <a:solidFill>
                  <a:srgbClr val="0F172A"/>
                </a:solidFill>
                <a:latin typeface="Arial"/>
              </a:defRPr>
            </a:pPr>
            <a:r>
              <a:t>✓ Sinh viên, người sống độc thân:</a:t>
            </a:r>
          </a:p>
          <a:p>
            <a:pPr>
              <a:spcBef>
                <a:spcPts val="200"/>
              </a:spcBef>
              <a:defRPr sz="1000">
                <a:solidFill>
                  <a:srgbClr val="64748B"/>
                </a:solidFill>
                <a:latin typeface="Arial"/>
              </a:defRPr>
            </a:pPr>
            <a:r>
              <a:t>Cần gợi ý các món nấu nhanh (15 phút), dễ làm từ những nguyên liệu sẵn có trong tủ.</a:t>
            </a:r>
          </a:p>
          <a:p>
            <a:pPr>
              <a:spcBef>
                <a:spcPts val="800"/>
              </a:spcBef>
              <a:defRPr sz="1100" b="1">
                <a:solidFill>
                  <a:srgbClr val="0F172A"/>
                </a:solidFill>
                <a:latin typeface="Arial"/>
              </a:defRPr>
            </a:pPr>
            <a:r>
              <a:t>✓ Người yêu thích ẩm thực:</a:t>
            </a:r>
          </a:p>
          <a:p>
            <a:pPr>
              <a:spcBef>
                <a:spcPts val="200"/>
              </a:spcBef>
              <a:defRPr sz="1000">
                <a:solidFill>
                  <a:srgbClr val="64748B"/>
                </a:solidFill>
                <a:latin typeface="Arial"/>
              </a:defRPr>
            </a:pPr>
            <a:r>
              <a:t>Muốn tạo sổ tay số hóa lưu trữ công thức cá nhân, tùy biến nguyên liệu và định lượng chuẩn xác.</a:t>
            </a:r>
          </a:p>
        </p:txBody>
      </p:sp>
      <p:sp>
        <p:nvSpPr>
          <p:cNvPr id="13" name="Rounded Rectangle 12"/>
          <p:cNvSpPr/>
          <p:nvPr/>
        </p:nvSpPr>
        <p:spPr>
          <a:xfrm>
            <a:off x="8010144" y="1463040"/>
            <a:ext cx="3456432" cy="46177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8193024" y="1645920"/>
            <a:ext cx="3090672" cy="50292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Arial"/>
              </a:defRPr>
            </a:pPr>
            <a:r>
              <a:t>GIÁ TRỊ MANG LẠI</a:t>
            </a:r>
          </a:p>
        </p:txBody>
      </p:sp>
      <p:sp>
        <p:nvSpPr>
          <p:cNvPr id="15" name="TextBox 14"/>
          <p:cNvSpPr txBox="1"/>
          <p:nvPr/>
        </p:nvSpPr>
        <p:spPr>
          <a:xfrm>
            <a:off x="8193024" y="2240280"/>
            <a:ext cx="3090672" cy="3657600"/>
          </a:xfrm>
          <a:prstGeom prst="rect">
            <a:avLst/>
          </a:prstGeom>
          <a:noFill/>
        </p:spPr>
        <p:txBody>
          <a:bodyPr wrap="square">
            <a:spAutoFit/>
          </a:bodyPr>
          <a:lstStyle/>
          <a:p>
            <a:pPr>
              <a:defRPr sz="1100" b="1">
                <a:solidFill>
                  <a:srgbClr val="0F172A"/>
                </a:solidFill>
                <a:latin typeface="Arial"/>
              </a:defRPr>
            </a:pPr>
            <a:r>
              <a:t>✓ Tiết kiệm thời gian suy nghĩ:</a:t>
            </a:r>
          </a:p>
          <a:p>
            <a:pPr>
              <a:spcBef>
                <a:spcPts val="200"/>
              </a:spcBef>
              <a:defRPr sz="1000">
                <a:solidFill>
                  <a:srgbClr val="64748B"/>
                </a:solidFill>
                <a:latin typeface="Arial"/>
              </a:defRPr>
            </a:pPr>
            <a:r>
              <a:t>Giải quyết dứt điểm câu hỏi 'Hôm nay ăn gì?' với 1 chạm nhờ AI và thuật toán cục bộ.</a:t>
            </a:r>
          </a:p>
          <a:p>
            <a:pPr>
              <a:spcBef>
                <a:spcPts val="800"/>
              </a:spcBef>
              <a:defRPr sz="1100" b="1">
                <a:solidFill>
                  <a:srgbClr val="0F172A"/>
                </a:solidFill>
                <a:latin typeface="Arial"/>
              </a:defRPr>
            </a:pPr>
            <a:r>
              <a:t>✓ Tối ưu hóa chi phí thực phẩm:</a:t>
            </a:r>
          </a:p>
          <a:p>
            <a:pPr>
              <a:spcBef>
                <a:spcPts val="200"/>
              </a:spcBef>
              <a:defRPr sz="1000">
                <a:solidFill>
                  <a:srgbClr val="64748B"/>
                </a:solidFill>
                <a:latin typeface="Arial"/>
              </a:defRPr>
            </a:pPr>
            <a:r>
              <a:t>Cảnh báo nguyên liệu sắp hết và hạn dùng giúp tận dụng tối đa thực phẩm sẵn có.</a:t>
            </a:r>
          </a:p>
          <a:p>
            <a:pPr>
              <a:spcBef>
                <a:spcPts val="800"/>
              </a:spcBef>
              <a:defRPr sz="1100" b="1">
                <a:solidFill>
                  <a:srgbClr val="0F172A"/>
                </a:solidFill>
                <a:latin typeface="Arial"/>
              </a:defRPr>
            </a:pPr>
            <a:r>
              <a:t>✓ Trải nghiệm không gián đoạn:</a:t>
            </a:r>
          </a:p>
          <a:p>
            <a:pPr>
              <a:spcBef>
                <a:spcPts val="200"/>
              </a:spcBef>
              <a:defRPr sz="1000">
                <a:solidFill>
                  <a:srgbClr val="64748B"/>
                </a:solidFill>
                <a:latin typeface="Arial"/>
              </a:defRPr>
            </a:pPr>
            <a:r>
              <a:t>Không quảng cáo, mở app tức thì, thao tác mượt mà ngay cả khi tay ướt làm bếp.</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10728655" cy="822960"/>
          </a:xfrm>
          <a:prstGeom prst="rect">
            <a:avLst/>
          </a:prstGeom>
          <a:noFill/>
        </p:spPr>
        <p:txBody>
          <a:bodyPr wrap="square" lIns="0" tIns="0" rIns="0" bIns="0">
            <a:spAutoFit/>
          </a:bodyPr>
          <a:lstStyle/>
          <a:p>
            <a:pPr>
              <a:defRPr sz="1000" b="1">
                <a:solidFill>
                  <a:srgbClr val="E3562A"/>
                </a:solidFill>
                <a:latin typeface="Arial"/>
              </a:defRPr>
            </a:pPr>
            <a:r>
              <a:t>CHƯƠNG 2: PHÂN TÍCH BÀI TOÁN</a:t>
            </a:r>
          </a:p>
          <a:p>
            <a:pPr>
              <a:spcBef>
                <a:spcPts val="300"/>
              </a:spcBef>
              <a:defRPr sz="2200" b="1">
                <a:solidFill>
                  <a:srgbClr val="0F172A"/>
                </a:solidFill>
                <a:latin typeface="Arial"/>
              </a:defRPr>
            </a:pPr>
            <a:r>
              <a:t>2.1. Mô tả bài toán &amp; Triết lý thiết kế ứng dụng</a:t>
            </a:r>
          </a:p>
        </p:txBody>
      </p:sp>
      <p:sp>
        <p:nvSpPr>
          <p:cNvPr id="3" name="Rectangle 2"/>
          <p:cNvSpPr/>
          <p:nvPr/>
        </p:nvSpPr>
        <p:spPr>
          <a:xfrm>
            <a:off x="731520" y="1234440"/>
            <a:ext cx="10728655" cy="27432"/>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31520" y="1234440"/>
            <a:ext cx="1097280" cy="27432"/>
          </a:xfrm>
          <a:prstGeom prst="rect">
            <a:avLst/>
          </a:prstGeom>
          <a:solidFill>
            <a:srgbClr val="E356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6309360"/>
            <a:ext cx="10728655" cy="365760"/>
          </a:xfrm>
          <a:prstGeom prst="rect">
            <a:avLst/>
          </a:prstGeom>
          <a:noFill/>
        </p:spPr>
        <p:txBody>
          <a:bodyPr wrap="square" lIns="0" tIns="0" rIns="0" bIns="0">
            <a:spAutoFit/>
          </a:bodyPr>
          <a:lstStyle/>
          <a:p>
            <a:pPr>
              <a:defRPr sz="900">
                <a:solidFill>
                  <a:srgbClr val="64748B"/>
                </a:solidFill>
                <a:latin typeface="Arial"/>
              </a:defRPr>
            </a:pPr>
            <a:r>
              <a:t>Trường CĐ Kỹ thuật - Công nghệ Bách Khoa • Môn: Phát triển Ứng dụng Di động • Nhóm TT602-K16LT</a:t>
            </a:r>
          </a:p>
        </p:txBody>
      </p:sp>
      <p:sp>
        <p:nvSpPr>
          <p:cNvPr id="6" name="TextBox 5"/>
          <p:cNvSpPr txBox="1"/>
          <p:nvPr/>
        </p:nvSpPr>
        <p:spPr>
          <a:xfrm>
            <a:off x="10515600" y="6309360"/>
            <a:ext cx="914400" cy="365760"/>
          </a:xfrm>
          <a:prstGeom prst="rect">
            <a:avLst/>
          </a:prstGeom>
          <a:noFill/>
        </p:spPr>
        <p:txBody>
          <a:bodyPr wrap="none" lIns="0" tIns="0" rIns="0" bIns="0">
            <a:spAutoFit/>
          </a:bodyPr>
          <a:lstStyle/>
          <a:p>
            <a:pPr algn="r">
              <a:defRPr sz="900" b="1">
                <a:solidFill>
                  <a:srgbClr val="E3562A"/>
                </a:solidFill>
                <a:latin typeface="Arial"/>
              </a:defRPr>
            </a:pPr>
            <a:r>
              <a:t>06 / 19</a:t>
            </a:r>
          </a:p>
        </p:txBody>
      </p:sp>
      <p:sp>
        <p:nvSpPr>
          <p:cNvPr id="7" name="Rounded Rectangle 6"/>
          <p:cNvSpPr/>
          <p:nvPr/>
        </p:nvSpPr>
        <p:spPr>
          <a:xfrm>
            <a:off x="731520" y="1463040"/>
            <a:ext cx="5285232" cy="2148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960120" y="1645920"/>
            <a:ext cx="2011680" cy="320040"/>
          </a:xfrm>
          <a:prstGeom prst="roundRect">
            <a:avLst/>
          </a:prstGeom>
          <a:solidFill>
            <a:srgbClr val="E356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latin typeface="Arial"/>
              </a:defRPr>
            </a:pPr>
            <a:r>
              <a:t>TỐC ĐỘ MỞ TỨC THÌ</a:t>
            </a:r>
          </a:p>
        </p:txBody>
      </p:sp>
      <p:sp>
        <p:nvSpPr>
          <p:cNvPr id="9" name="TextBox 8"/>
          <p:cNvSpPr txBox="1"/>
          <p:nvPr/>
        </p:nvSpPr>
        <p:spPr>
          <a:xfrm>
            <a:off x="960120" y="2057400"/>
            <a:ext cx="4828032" cy="1417320"/>
          </a:xfrm>
          <a:prstGeom prst="rect">
            <a:avLst/>
          </a:prstGeom>
          <a:noFill/>
        </p:spPr>
        <p:txBody>
          <a:bodyPr wrap="square">
            <a:spAutoFit/>
          </a:bodyPr>
          <a:lstStyle/>
          <a:p>
            <a:pPr>
              <a:defRPr sz="1300" b="1">
                <a:solidFill>
                  <a:srgbClr val="0F172A"/>
                </a:solidFill>
                <a:latin typeface="Arial"/>
              </a:defRPr>
            </a:pPr>
            <a:r>
              <a:t>Instant Startup (&lt; 1.0s)</a:t>
            </a:r>
          </a:p>
          <a:p>
            <a:pPr>
              <a:spcBef>
                <a:spcPts val="400"/>
              </a:spcBef>
              <a:defRPr sz="1100">
                <a:solidFill>
                  <a:srgbClr val="64748B"/>
                </a:solidFill>
                <a:latin typeface="Arial"/>
              </a:defRPr>
            </a:pPr>
            <a:r>
              <a:t>Tối ưu hóa Cold Start dưới 1 giây. Cơ sở dữ liệu SQLite cục bộ được tải tức thì, loại bỏ hoàn toàn độ trễ chờ đợi mạng hay màn hình splash lâu.</a:t>
            </a:r>
          </a:p>
        </p:txBody>
      </p:sp>
      <p:sp>
        <p:nvSpPr>
          <p:cNvPr id="10" name="Rounded Rectangle 9"/>
          <p:cNvSpPr/>
          <p:nvPr/>
        </p:nvSpPr>
        <p:spPr>
          <a:xfrm>
            <a:off x="6172200" y="1463040"/>
            <a:ext cx="5285232" cy="2148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6400800" y="1645920"/>
            <a:ext cx="2011680" cy="32004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latin typeface="Arial"/>
              </a:defRPr>
            </a:pPr>
            <a:r>
              <a:t>THAO TÁC MỘT CHẠM</a:t>
            </a:r>
          </a:p>
        </p:txBody>
      </p:sp>
      <p:sp>
        <p:nvSpPr>
          <p:cNvPr id="12" name="TextBox 11"/>
          <p:cNvSpPr txBox="1"/>
          <p:nvPr/>
        </p:nvSpPr>
        <p:spPr>
          <a:xfrm>
            <a:off x="6400800" y="2057400"/>
            <a:ext cx="4828032" cy="1417320"/>
          </a:xfrm>
          <a:prstGeom prst="rect">
            <a:avLst/>
          </a:prstGeom>
          <a:noFill/>
        </p:spPr>
        <p:txBody>
          <a:bodyPr wrap="square">
            <a:spAutoFit/>
          </a:bodyPr>
          <a:lstStyle/>
          <a:p>
            <a:pPr>
              <a:defRPr sz="1300" b="1">
                <a:solidFill>
                  <a:srgbClr val="0F172A"/>
                </a:solidFill>
                <a:latin typeface="Arial"/>
              </a:defRPr>
            </a:pPr>
            <a:r>
              <a:t>One-Touch UX / Cooking Mode</a:t>
            </a:r>
          </a:p>
          <a:p>
            <a:pPr>
              <a:spcBef>
                <a:spcPts val="400"/>
              </a:spcBef>
              <a:defRPr sz="1100">
                <a:solidFill>
                  <a:srgbClr val="64748B"/>
                </a:solidFill>
                <a:latin typeface="Arial"/>
              </a:defRPr>
            </a:pPr>
            <a:r>
              <a:t>Giao diện Jetpack Compose Material 3 thiết kế nút bấm lớn, trực quan, độ tương phản cao, phù hợp thao tác khi người dùng đang bận tay làm bếp.</a:t>
            </a:r>
          </a:p>
        </p:txBody>
      </p:sp>
      <p:sp>
        <p:nvSpPr>
          <p:cNvPr id="13" name="Rounded Rectangle 12"/>
          <p:cNvSpPr/>
          <p:nvPr/>
        </p:nvSpPr>
        <p:spPr>
          <a:xfrm>
            <a:off x="731520" y="3749039"/>
            <a:ext cx="5285232" cy="2148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960120" y="3931919"/>
            <a:ext cx="2011680" cy="32004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latin typeface="Arial"/>
              </a:defRPr>
            </a:pPr>
            <a:r>
              <a:t>KHÔNG PHỤ THUỘC ĐÁM MÂY</a:t>
            </a:r>
          </a:p>
        </p:txBody>
      </p:sp>
      <p:sp>
        <p:nvSpPr>
          <p:cNvPr id="15" name="TextBox 14"/>
          <p:cNvSpPr txBox="1"/>
          <p:nvPr/>
        </p:nvSpPr>
        <p:spPr>
          <a:xfrm>
            <a:off x="960120" y="4343399"/>
            <a:ext cx="4828032" cy="1417320"/>
          </a:xfrm>
          <a:prstGeom prst="rect">
            <a:avLst/>
          </a:prstGeom>
          <a:noFill/>
        </p:spPr>
        <p:txBody>
          <a:bodyPr wrap="square">
            <a:spAutoFit/>
          </a:bodyPr>
          <a:lstStyle/>
          <a:p>
            <a:pPr>
              <a:defRPr sz="1300" b="1">
                <a:solidFill>
                  <a:srgbClr val="0F172A"/>
                </a:solidFill>
                <a:latin typeface="Arial"/>
              </a:defRPr>
            </a:pPr>
            <a:r>
              <a:t>Zero Cloud Lock-in</a:t>
            </a:r>
          </a:p>
          <a:p>
            <a:pPr>
              <a:spcBef>
                <a:spcPts val="400"/>
              </a:spcBef>
              <a:defRPr sz="1100">
                <a:solidFill>
                  <a:srgbClr val="64748B"/>
                </a:solidFill>
                <a:latin typeface="Arial"/>
              </a:defRPr>
            </a:pPr>
            <a:r>
              <a:t>Dữ liệu công thức và thực phẩm thuộc quyền sở hữu 100% của người dùng. Cho phép xuất và sao lưu toàn bộ tệp database SQLite dự phòng bất kỳ lúc nào.</a:t>
            </a:r>
          </a:p>
        </p:txBody>
      </p:sp>
      <p:sp>
        <p:nvSpPr>
          <p:cNvPr id="16" name="Rounded Rectangle 15"/>
          <p:cNvSpPr/>
          <p:nvPr/>
        </p:nvSpPr>
        <p:spPr>
          <a:xfrm>
            <a:off x="6172200" y="3749039"/>
            <a:ext cx="5285232" cy="2148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6400800" y="3931919"/>
            <a:ext cx="2011680" cy="32004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latin typeface="Arial"/>
              </a:defRPr>
            </a:pPr>
            <a:r>
              <a:t>HOẠT ĐỘNG BỀN BỈ NGOẠI TUYẾN</a:t>
            </a:r>
          </a:p>
        </p:txBody>
      </p:sp>
      <p:sp>
        <p:nvSpPr>
          <p:cNvPr id="18" name="TextBox 17"/>
          <p:cNvSpPr txBox="1"/>
          <p:nvPr/>
        </p:nvSpPr>
        <p:spPr>
          <a:xfrm>
            <a:off x="6400800" y="4343399"/>
            <a:ext cx="4828032" cy="1417320"/>
          </a:xfrm>
          <a:prstGeom prst="rect">
            <a:avLst/>
          </a:prstGeom>
          <a:noFill/>
        </p:spPr>
        <p:txBody>
          <a:bodyPr wrap="square">
            <a:spAutoFit/>
          </a:bodyPr>
          <a:lstStyle/>
          <a:p>
            <a:pPr>
              <a:defRPr sz="1300" b="1">
                <a:solidFill>
                  <a:srgbClr val="0F172A"/>
                </a:solidFill>
                <a:latin typeface="Arial"/>
              </a:defRPr>
            </a:pPr>
            <a:r>
              <a:t>Offline Resilience</a:t>
            </a:r>
          </a:p>
          <a:p>
            <a:pPr>
              <a:spcBef>
                <a:spcPts val="400"/>
              </a:spcBef>
              <a:defRPr sz="1100">
                <a:solidFill>
                  <a:srgbClr val="64748B"/>
                </a:solidFill>
                <a:latin typeface="Arial"/>
              </a:defRPr>
            </a:pPr>
            <a:r>
              <a:t>Không có mạng vẫn tra cứu công thức, kiểm tra tủ lạnh, tính toán khẩu phần và nhận gợi ý thực đơn qua bộ luật RuleBasedAi offline.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10728655" cy="822960"/>
          </a:xfrm>
          <a:prstGeom prst="rect">
            <a:avLst/>
          </a:prstGeom>
          <a:noFill/>
        </p:spPr>
        <p:txBody>
          <a:bodyPr wrap="square" lIns="0" tIns="0" rIns="0" bIns="0">
            <a:spAutoFit/>
          </a:bodyPr>
          <a:lstStyle/>
          <a:p>
            <a:pPr>
              <a:defRPr sz="1000" b="1">
                <a:solidFill>
                  <a:srgbClr val="E3562A"/>
                </a:solidFill>
                <a:latin typeface="Arial"/>
              </a:defRPr>
            </a:pPr>
            <a:r>
              <a:t>CHƯƠNG 2: PHÂN TÍCH BÀI TOÁN</a:t>
            </a:r>
          </a:p>
          <a:p>
            <a:pPr>
              <a:spcBef>
                <a:spcPts val="300"/>
              </a:spcBef>
              <a:defRPr sz="2200" b="1">
                <a:solidFill>
                  <a:srgbClr val="0F172A"/>
                </a:solidFill>
                <a:latin typeface="Arial"/>
              </a:defRPr>
            </a:pPr>
            <a:r>
              <a:t>2.2. Yêu cầu chức năng: 5 Phân hệ cốt lõi</a:t>
            </a:r>
          </a:p>
        </p:txBody>
      </p:sp>
      <p:sp>
        <p:nvSpPr>
          <p:cNvPr id="3" name="Rectangle 2"/>
          <p:cNvSpPr/>
          <p:nvPr/>
        </p:nvSpPr>
        <p:spPr>
          <a:xfrm>
            <a:off x="731520" y="1234440"/>
            <a:ext cx="10728655" cy="27432"/>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31520" y="1234440"/>
            <a:ext cx="1097280" cy="27432"/>
          </a:xfrm>
          <a:prstGeom prst="rect">
            <a:avLst/>
          </a:prstGeom>
          <a:solidFill>
            <a:srgbClr val="E356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6309360"/>
            <a:ext cx="10728655" cy="365760"/>
          </a:xfrm>
          <a:prstGeom prst="rect">
            <a:avLst/>
          </a:prstGeom>
          <a:noFill/>
        </p:spPr>
        <p:txBody>
          <a:bodyPr wrap="square" lIns="0" tIns="0" rIns="0" bIns="0">
            <a:spAutoFit/>
          </a:bodyPr>
          <a:lstStyle/>
          <a:p>
            <a:pPr>
              <a:defRPr sz="900">
                <a:solidFill>
                  <a:srgbClr val="64748B"/>
                </a:solidFill>
                <a:latin typeface="Arial"/>
              </a:defRPr>
            </a:pPr>
            <a:r>
              <a:t>Trường CĐ Kỹ thuật - Công nghệ Bách Khoa • Môn: Phát triển Ứng dụng Di động • Nhóm TT602-K16LT</a:t>
            </a:r>
          </a:p>
        </p:txBody>
      </p:sp>
      <p:sp>
        <p:nvSpPr>
          <p:cNvPr id="6" name="TextBox 5"/>
          <p:cNvSpPr txBox="1"/>
          <p:nvPr/>
        </p:nvSpPr>
        <p:spPr>
          <a:xfrm>
            <a:off x="10515600" y="6309360"/>
            <a:ext cx="914400" cy="365760"/>
          </a:xfrm>
          <a:prstGeom prst="rect">
            <a:avLst/>
          </a:prstGeom>
          <a:noFill/>
        </p:spPr>
        <p:txBody>
          <a:bodyPr wrap="none" lIns="0" tIns="0" rIns="0" bIns="0">
            <a:spAutoFit/>
          </a:bodyPr>
          <a:lstStyle/>
          <a:p>
            <a:pPr algn="r">
              <a:defRPr sz="900" b="1">
                <a:solidFill>
                  <a:srgbClr val="E3562A"/>
                </a:solidFill>
                <a:latin typeface="Arial"/>
              </a:defRPr>
            </a:pPr>
            <a:r>
              <a:t>07 / 19</a:t>
            </a:r>
          </a:p>
        </p:txBody>
      </p:sp>
      <p:sp>
        <p:nvSpPr>
          <p:cNvPr id="7" name="Rounded Rectangle 6"/>
          <p:cNvSpPr/>
          <p:nvPr/>
        </p:nvSpPr>
        <p:spPr>
          <a:xfrm>
            <a:off x="731520" y="1417320"/>
            <a:ext cx="10728655" cy="8686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31520" y="1417320"/>
            <a:ext cx="109728" cy="868680"/>
          </a:xfrm>
          <a:prstGeom prst="rect">
            <a:avLst/>
          </a:prstGeom>
          <a:solidFill>
            <a:srgbClr val="E356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05840" y="1490472"/>
            <a:ext cx="10241280" cy="731520"/>
          </a:xfrm>
          <a:prstGeom prst="rect">
            <a:avLst/>
          </a:prstGeom>
          <a:noFill/>
        </p:spPr>
        <p:txBody>
          <a:bodyPr wrap="square" lIns="0" tIns="0" rIns="0" bIns="0">
            <a:spAutoFit/>
          </a:bodyPr>
          <a:lstStyle/>
          <a:p>
            <a:pPr>
              <a:defRPr sz="1300" b="1">
                <a:solidFill>
                  <a:srgbClr val="0F172A"/>
                </a:solidFill>
                <a:latin typeface="Arial"/>
              </a:defRPr>
            </a:pPr>
            <a:r>
              <a:t>1. Quản lý Công thức  </a:t>
            </a:r>
          </a:p>
          <a:p>
            <a:pPr>
              <a:spcBef>
                <a:spcPts val="200"/>
              </a:spcBef>
              <a:defRPr sz="1050">
                <a:solidFill>
                  <a:srgbClr val="64748B"/>
                </a:solidFill>
                <a:latin typeface="Arial"/>
              </a:defRPr>
            </a:pPr>
            <a:r>
              <a:t>Tiếng Anh: Recipe Management  |  Nghiệp vụ: Xem card trực quan, chi tiết định lượng nguyên liệu, các bước nấu có số thứ tự, thêm/sửa/xóa công thức, đánh dấu yêu thích, ghi nhận lịch sử nấu, chia sẻ nhanh.</a:t>
            </a:r>
          </a:p>
        </p:txBody>
      </p:sp>
      <p:sp>
        <p:nvSpPr>
          <p:cNvPr id="10" name="Rounded Rectangle 9"/>
          <p:cNvSpPr/>
          <p:nvPr/>
        </p:nvSpPr>
        <p:spPr>
          <a:xfrm>
            <a:off x="731520" y="2377440"/>
            <a:ext cx="10728655" cy="8686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731520" y="2377440"/>
            <a:ext cx="109728" cy="86868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05840" y="2450592"/>
            <a:ext cx="10241280" cy="731520"/>
          </a:xfrm>
          <a:prstGeom prst="rect">
            <a:avLst/>
          </a:prstGeom>
          <a:noFill/>
        </p:spPr>
        <p:txBody>
          <a:bodyPr wrap="square" lIns="0" tIns="0" rIns="0" bIns="0">
            <a:spAutoFit/>
          </a:bodyPr>
          <a:lstStyle/>
          <a:p>
            <a:pPr>
              <a:defRPr sz="1300" b="1">
                <a:solidFill>
                  <a:srgbClr val="0F172A"/>
                </a:solidFill>
                <a:latin typeface="Arial"/>
              </a:defRPr>
            </a:pPr>
            <a:r>
              <a:t>2. Tủ lạnh &amp; Nguyên liệu  </a:t>
            </a:r>
          </a:p>
          <a:p>
            <a:pPr>
              <a:spcBef>
                <a:spcPts val="200"/>
              </a:spcBef>
              <a:defRPr sz="1050">
                <a:solidFill>
                  <a:srgbClr val="64748B"/>
                </a:solidFill>
                <a:latin typeface="Arial"/>
              </a:defRPr>
            </a:pPr>
            <a:r>
              <a:t>Tiếng Anh: Pantry Management  |  Nghiệp vụ: Kiểm kê danh sách thực phẩm trong tủ lạnh, theo dõi số lượng và hạn sử dụng, cảnh báo nguyên liệu sắp hết (Low stock alert), thêm/sửa/xóa nhanh.</a:t>
            </a:r>
          </a:p>
        </p:txBody>
      </p:sp>
      <p:sp>
        <p:nvSpPr>
          <p:cNvPr id="13" name="Rounded Rectangle 12"/>
          <p:cNvSpPr/>
          <p:nvPr/>
        </p:nvSpPr>
        <p:spPr>
          <a:xfrm>
            <a:off x="731520" y="3337560"/>
            <a:ext cx="10728655" cy="8686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731520" y="3337560"/>
            <a:ext cx="109728" cy="86868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005840" y="3410712"/>
            <a:ext cx="10241280" cy="731520"/>
          </a:xfrm>
          <a:prstGeom prst="rect">
            <a:avLst/>
          </a:prstGeom>
          <a:noFill/>
        </p:spPr>
        <p:txBody>
          <a:bodyPr wrap="square" lIns="0" tIns="0" rIns="0" bIns="0">
            <a:spAutoFit/>
          </a:bodyPr>
          <a:lstStyle/>
          <a:p>
            <a:pPr>
              <a:defRPr sz="1300" b="1">
                <a:solidFill>
                  <a:srgbClr val="0F172A"/>
                </a:solidFill>
                <a:latin typeface="Arial"/>
              </a:defRPr>
            </a:pPr>
            <a:r>
              <a:t>3. Trợ lý Thông minh  </a:t>
            </a:r>
          </a:p>
          <a:p>
            <a:pPr>
              <a:spcBef>
                <a:spcPts val="200"/>
              </a:spcBef>
              <a:defRPr sz="1050">
                <a:solidFill>
                  <a:srgbClr val="64748B"/>
                </a:solidFill>
                <a:latin typeface="Arial"/>
              </a:defRPr>
            </a:pPr>
            <a:r>
              <a:t>Tiếng Anh: AI Kitchen Assistant  |  Nghiệp vụ: Giao diện chat real-time, tự động nạp ngữ cảnh tủ lạnh (Context Injection), 4 phím tắt gợi ý thông minh, hỗ trợ 4 Cloud LLM kèm Offline Fallback.</a:t>
            </a:r>
          </a:p>
        </p:txBody>
      </p:sp>
      <p:sp>
        <p:nvSpPr>
          <p:cNvPr id="16" name="Rounded Rectangle 15"/>
          <p:cNvSpPr/>
          <p:nvPr/>
        </p:nvSpPr>
        <p:spPr>
          <a:xfrm>
            <a:off x="731520" y="4297680"/>
            <a:ext cx="10728655" cy="8686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731520" y="4297680"/>
            <a:ext cx="109728" cy="86868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005840" y="4370832"/>
            <a:ext cx="10241280" cy="731520"/>
          </a:xfrm>
          <a:prstGeom prst="rect">
            <a:avLst/>
          </a:prstGeom>
          <a:noFill/>
        </p:spPr>
        <p:txBody>
          <a:bodyPr wrap="square" lIns="0" tIns="0" rIns="0" bIns="0">
            <a:spAutoFit/>
          </a:bodyPr>
          <a:lstStyle/>
          <a:p>
            <a:pPr>
              <a:defRPr sz="1300" b="1">
                <a:solidFill>
                  <a:srgbClr val="0F172A"/>
                </a:solidFill>
                <a:latin typeface="Arial"/>
              </a:defRPr>
            </a:pPr>
            <a:r>
              <a:t>4. Tra cứu &amp; Lọc đa chiều  </a:t>
            </a:r>
          </a:p>
          <a:p>
            <a:pPr>
              <a:spcBef>
                <a:spcPts val="200"/>
              </a:spcBef>
              <a:defRPr sz="1050">
                <a:solidFill>
                  <a:srgbClr val="64748B"/>
                </a:solidFill>
                <a:latin typeface="Arial"/>
              </a:defRPr>
            </a:pPr>
            <a:r>
              <a:t>Tiếng Anh: Search &amp; Filtering  |  Nghiệp vụ: Tìm kiếm tức thì hỗ trợ Debounce 300ms giảm tải CPU, tìm theo tên món, mô tả, nguyên liệu; bộ lọc đa chiều theo danh mục món ăn.</a:t>
            </a:r>
          </a:p>
        </p:txBody>
      </p:sp>
      <p:sp>
        <p:nvSpPr>
          <p:cNvPr id="19" name="Rounded Rectangle 18"/>
          <p:cNvSpPr/>
          <p:nvPr/>
        </p:nvSpPr>
        <p:spPr>
          <a:xfrm>
            <a:off x="731520" y="5257800"/>
            <a:ext cx="10728655" cy="8686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731520" y="5257800"/>
            <a:ext cx="109728" cy="868680"/>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005840" y="5330952"/>
            <a:ext cx="10241280" cy="731520"/>
          </a:xfrm>
          <a:prstGeom prst="rect">
            <a:avLst/>
          </a:prstGeom>
          <a:noFill/>
        </p:spPr>
        <p:txBody>
          <a:bodyPr wrap="square" lIns="0" tIns="0" rIns="0" bIns="0">
            <a:spAutoFit/>
          </a:bodyPr>
          <a:lstStyle/>
          <a:p>
            <a:pPr>
              <a:defRPr sz="1300" b="1">
                <a:solidFill>
                  <a:srgbClr val="0F172A"/>
                </a:solidFill>
                <a:latin typeface="Arial"/>
              </a:defRPr>
            </a:pPr>
            <a:r>
              <a:t>5. Cài đặt &amp; Sao lưu DB  </a:t>
            </a:r>
          </a:p>
          <a:p>
            <a:pPr>
              <a:spcBef>
                <a:spcPts val="200"/>
              </a:spcBef>
              <a:defRPr sz="1050">
                <a:solidFill>
                  <a:srgbClr val="64748B"/>
                </a:solidFill>
                <a:latin typeface="Arial"/>
              </a:defRPr>
            </a:pPr>
            <a:r>
              <a:t>Tiếng Anh: Settings &amp; Backup  |  Nghiệp vụ: Cấu hình nhà cung cấp AI, mã hóa khóa API bằng AES-256 GCM, tạo bản sao lưu tệp cơ sở dữ liệu SQLite chạy bất đồng bộ trên luồng IO, chia sẻ qua FileProvider.</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10728655" cy="822960"/>
          </a:xfrm>
          <a:prstGeom prst="rect">
            <a:avLst/>
          </a:prstGeom>
          <a:noFill/>
        </p:spPr>
        <p:txBody>
          <a:bodyPr wrap="square" lIns="0" tIns="0" rIns="0" bIns="0">
            <a:spAutoFit/>
          </a:bodyPr>
          <a:lstStyle/>
          <a:p>
            <a:pPr>
              <a:defRPr sz="1000" b="1">
                <a:solidFill>
                  <a:srgbClr val="E3562A"/>
                </a:solidFill>
                <a:latin typeface="Arial"/>
              </a:defRPr>
            </a:pPr>
            <a:r>
              <a:t>CHƯƠNG 2: PHÂN TÍCH BÀI TOÁN</a:t>
            </a:r>
          </a:p>
          <a:p>
            <a:pPr>
              <a:spcBef>
                <a:spcPts val="300"/>
              </a:spcBef>
              <a:defRPr sz="2200" b="1">
                <a:solidFill>
                  <a:srgbClr val="0F172A"/>
                </a:solidFill>
                <a:latin typeface="Arial"/>
              </a:defRPr>
            </a:pPr>
            <a:r>
              <a:t>2.2.1. Chi tiết Phân hệ Công thức &amp; Tủ lạnh</a:t>
            </a:r>
          </a:p>
        </p:txBody>
      </p:sp>
      <p:sp>
        <p:nvSpPr>
          <p:cNvPr id="3" name="Rectangle 2"/>
          <p:cNvSpPr/>
          <p:nvPr/>
        </p:nvSpPr>
        <p:spPr>
          <a:xfrm>
            <a:off x="731520" y="1234440"/>
            <a:ext cx="10728655" cy="27432"/>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31520" y="1234440"/>
            <a:ext cx="1097280" cy="27432"/>
          </a:xfrm>
          <a:prstGeom prst="rect">
            <a:avLst/>
          </a:prstGeom>
          <a:solidFill>
            <a:srgbClr val="E356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6309360"/>
            <a:ext cx="10728655" cy="365760"/>
          </a:xfrm>
          <a:prstGeom prst="rect">
            <a:avLst/>
          </a:prstGeom>
          <a:noFill/>
        </p:spPr>
        <p:txBody>
          <a:bodyPr wrap="square" lIns="0" tIns="0" rIns="0" bIns="0">
            <a:spAutoFit/>
          </a:bodyPr>
          <a:lstStyle/>
          <a:p>
            <a:pPr>
              <a:defRPr sz="900">
                <a:solidFill>
                  <a:srgbClr val="64748B"/>
                </a:solidFill>
                <a:latin typeface="Arial"/>
              </a:defRPr>
            </a:pPr>
            <a:r>
              <a:t>Trường CĐ Kỹ thuật - Công nghệ Bách Khoa • Môn: Phát triển Ứng dụng Di động • Nhóm TT602-K16LT</a:t>
            </a:r>
          </a:p>
        </p:txBody>
      </p:sp>
      <p:sp>
        <p:nvSpPr>
          <p:cNvPr id="6" name="TextBox 5"/>
          <p:cNvSpPr txBox="1"/>
          <p:nvPr/>
        </p:nvSpPr>
        <p:spPr>
          <a:xfrm>
            <a:off x="10515600" y="6309360"/>
            <a:ext cx="914400" cy="365760"/>
          </a:xfrm>
          <a:prstGeom prst="rect">
            <a:avLst/>
          </a:prstGeom>
          <a:noFill/>
        </p:spPr>
        <p:txBody>
          <a:bodyPr wrap="none" lIns="0" tIns="0" rIns="0" bIns="0">
            <a:spAutoFit/>
          </a:bodyPr>
          <a:lstStyle/>
          <a:p>
            <a:pPr algn="r">
              <a:defRPr sz="900" b="1">
                <a:solidFill>
                  <a:srgbClr val="E3562A"/>
                </a:solidFill>
                <a:latin typeface="Arial"/>
              </a:defRPr>
            </a:pPr>
            <a:r>
              <a:t>08 / 19</a:t>
            </a:r>
          </a:p>
        </p:txBody>
      </p:sp>
      <p:sp>
        <p:nvSpPr>
          <p:cNvPr id="7" name="Rounded Rectangle 6"/>
          <p:cNvSpPr/>
          <p:nvPr/>
        </p:nvSpPr>
        <p:spPr>
          <a:xfrm>
            <a:off x="731520" y="1463040"/>
            <a:ext cx="5257800" cy="4617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60120" y="1645920"/>
            <a:ext cx="4800600" cy="4251960"/>
          </a:xfrm>
          <a:prstGeom prst="rect">
            <a:avLst/>
          </a:prstGeom>
          <a:noFill/>
        </p:spPr>
        <p:txBody>
          <a:bodyPr wrap="square">
            <a:spAutoFit/>
          </a:bodyPr>
          <a:lstStyle/>
          <a:p>
            <a:pPr>
              <a:defRPr sz="1400" b="1">
                <a:solidFill>
                  <a:srgbClr val="E3562A"/>
                </a:solidFill>
                <a:latin typeface="Arial"/>
              </a:defRPr>
            </a:pPr>
            <a:r>
              <a:t>PHÂN HỆ QUẢN LÝ CÔNG THỨC</a:t>
            </a:r>
          </a:p>
          <a:p>
            <a:pPr>
              <a:spcBef>
                <a:spcPts val="600"/>
              </a:spcBef>
              <a:defRPr sz="1100" b="1">
                <a:solidFill>
                  <a:srgbClr val="0F172A"/>
                </a:solidFill>
                <a:latin typeface="Arial"/>
              </a:defRPr>
            </a:pPr>
            <a:r>
              <a:t>• Thẻ công thức trực quan (RecipeCard): </a:t>
            </a:r>
          </a:p>
          <a:p>
            <a:pPr>
              <a:defRPr sz="1000">
                <a:solidFill>
                  <a:srgbClr val="64748B"/>
                </a:solidFill>
                <a:latin typeface="Arial"/>
              </a:defRPr>
            </a:pPr>
            <a:r>
              <a:t>  Hiển thị ảnh món, tên món, nhãn danh mục, tổng thời gian chuẩn bị &amp; nấu, khẩu phần ăn và mức độ khó (Dễ, Trung bình, Khó).</a:t>
            </a:r>
          </a:p>
          <a:p>
            <a:pPr>
              <a:spcBef>
                <a:spcPts val="600"/>
              </a:spcBef>
              <a:defRPr sz="1100" b="1">
                <a:solidFill>
                  <a:srgbClr val="0F172A"/>
                </a:solidFill>
                <a:latin typeface="Arial"/>
              </a:defRPr>
            </a:pPr>
            <a:r>
              <a:t>• Chi tiết công thức đa tầng (RecipeWithDetails): </a:t>
            </a:r>
          </a:p>
          <a:p>
            <a:pPr>
              <a:defRPr sz="1000">
                <a:solidFill>
                  <a:srgbClr val="64748B"/>
                </a:solidFill>
                <a:latin typeface="Arial"/>
              </a:defRPr>
            </a:pPr>
            <a:r>
              <a:t>  Tải toàn diện thông tin quan hệ: Danh mục món, danh sách nguyên liệu định lượng rõ ràng, danh sách các bước nấu có đánh số thứ tự 1, 2, 3...</a:t>
            </a:r>
          </a:p>
          <a:p>
            <a:pPr>
              <a:spcBef>
                <a:spcPts val="600"/>
              </a:spcBef>
              <a:defRPr sz="1100" b="1">
                <a:solidFill>
                  <a:srgbClr val="0F172A"/>
                </a:solidFill>
                <a:latin typeface="Arial"/>
              </a:defRPr>
            </a:pPr>
            <a:r>
              <a:t>• Thêm &amp; Sửa linh hoạt (Create / Edit): </a:t>
            </a:r>
          </a:p>
          <a:p>
            <a:pPr>
              <a:defRPr sz="1000">
                <a:solidFill>
                  <a:srgbClr val="64748B"/>
                </a:solidFill>
                <a:latin typeface="Arial"/>
              </a:defRPr>
            </a:pPr>
            <a:r>
              <a:t>  Biểu mẫu nhập động cho phép thêm/xóa không giới hạn nguyên liệu và các bước làm; tự động validate trước khi lưu giao dịch vào DB.</a:t>
            </a:r>
          </a:p>
          <a:p>
            <a:pPr>
              <a:spcBef>
                <a:spcPts val="600"/>
              </a:spcBef>
              <a:defRPr sz="1100" b="1">
                <a:solidFill>
                  <a:srgbClr val="0F172A"/>
                </a:solidFill>
                <a:latin typeface="Arial"/>
              </a:defRPr>
            </a:pPr>
            <a:r>
              <a:t>• Nhật ký &amp; Yêu thích (Favorites &amp; History): </a:t>
            </a:r>
          </a:p>
          <a:p>
            <a:pPr>
              <a:defRPr sz="1000">
                <a:solidFill>
                  <a:srgbClr val="64748B"/>
                </a:solidFill>
                <a:latin typeface="Arial"/>
              </a:defRPr>
            </a:pPr>
            <a:r>
              <a:t>  Đánh dấu yêu thích tức thì; nút 'Đã nấu hôm nay' tự động thêm bản ghi vào lịch sử nấu kèm ghi chú cảm nhận.</a:t>
            </a:r>
          </a:p>
        </p:txBody>
      </p:sp>
      <p:sp>
        <p:nvSpPr>
          <p:cNvPr id="9" name="Rounded Rectangle 8"/>
          <p:cNvSpPr/>
          <p:nvPr/>
        </p:nvSpPr>
        <p:spPr>
          <a:xfrm>
            <a:off x="6199632" y="1463040"/>
            <a:ext cx="5257800" cy="4617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28232" y="1645920"/>
            <a:ext cx="4800600" cy="4251960"/>
          </a:xfrm>
          <a:prstGeom prst="rect">
            <a:avLst/>
          </a:prstGeom>
          <a:noFill/>
        </p:spPr>
        <p:txBody>
          <a:bodyPr wrap="square">
            <a:spAutoFit/>
          </a:bodyPr>
          <a:lstStyle/>
          <a:p>
            <a:pPr>
              <a:defRPr sz="1400" b="1">
                <a:solidFill>
                  <a:srgbClr val="F59E0B"/>
                </a:solidFill>
                <a:latin typeface="Arial"/>
              </a:defRPr>
            </a:pPr>
            <a:r>
              <a:t>PHÂN HỆ TỦ LẠNH &amp; NGUYÊN LIỆU (PANTRY)</a:t>
            </a:r>
          </a:p>
          <a:p>
            <a:pPr>
              <a:spcBef>
                <a:spcPts val="600"/>
              </a:spcBef>
              <a:defRPr sz="1100" b="1">
                <a:solidFill>
                  <a:srgbClr val="0F172A"/>
                </a:solidFill>
                <a:latin typeface="Arial"/>
              </a:defRPr>
            </a:pPr>
            <a:r>
              <a:t>• Quản lý tồn kho thực phẩm: </a:t>
            </a:r>
          </a:p>
          <a:p>
            <a:pPr>
              <a:defRPr sz="1000">
                <a:solidFill>
                  <a:srgbClr val="64748B"/>
                </a:solidFill>
                <a:latin typeface="Arial"/>
              </a:defRPr>
            </a:pPr>
            <a:r>
              <a:t>  Lưu trữ định lượng thực tế (số lượng, đơn vị: g, kg, ml, quả, tép...) của từng loại nguyên liệu đang sẵn có trong nhà.</a:t>
            </a:r>
          </a:p>
          <a:p>
            <a:pPr>
              <a:spcBef>
                <a:spcPts val="600"/>
              </a:spcBef>
              <a:defRPr sz="1100" b="1">
                <a:solidFill>
                  <a:srgbClr val="0F172A"/>
                </a:solidFill>
                <a:latin typeface="Arial"/>
              </a:defRPr>
            </a:pPr>
            <a:r>
              <a:t>• Theo dõi hạn sử dụng thông minh: </a:t>
            </a:r>
          </a:p>
          <a:p>
            <a:pPr>
              <a:defRPr sz="1000">
                <a:solidFill>
                  <a:srgbClr val="64748B"/>
                </a:solidFill>
                <a:latin typeface="Arial"/>
              </a:defRPr>
            </a:pPr>
            <a:r>
              <a:t>  Ghi nhận hạn dùng của thực phẩm để ưu tiên chế biến trước các món sắp quá hạn, giảm thiểu lãng phí thực phẩm.</a:t>
            </a:r>
          </a:p>
          <a:p>
            <a:pPr>
              <a:spcBef>
                <a:spcPts val="600"/>
              </a:spcBef>
              <a:defRPr sz="1100" b="1">
                <a:solidFill>
                  <a:srgbClr val="0F172A"/>
                </a:solidFill>
                <a:latin typeface="Arial"/>
              </a:defRPr>
            </a:pPr>
            <a:r>
              <a:t>• Cảnh báo sắp hết (Low Stock Alert): </a:t>
            </a:r>
          </a:p>
          <a:p>
            <a:pPr>
              <a:defRPr sz="1000">
                <a:solidFill>
                  <a:srgbClr val="64748B"/>
                </a:solidFill>
                <a:latin typeface="Arial"/>
              </a:defRPr>
            </a:pPr>
            <a:r>
              <a:t>  Tự động kích hoạt nhãn cảnh báo màu nổi bật khi số lượng thực phẩm trong tủ giảm xuống dưới ngưỡng tối thiểu.</a:t>
            </a:r>
          </a:p>
          <a:p>
            <a:pPr>
              <a:spcBef>
                <a:spcPts val="600"/>
              </a:spcBef>
              <a:defRPr sz="1100" b="1">
                <a:solidFill>
                  <a:srgbClr val="0F172A"/>
                </a:solidFill>
                <a:latin typeface="Arial"/>
              </a:defRPr>
            </a:pPr>
            <a:r>
              <a:t>• Liên kết trực tiếp với Trợ lý AI: </a:t>
            </a:r>
          </a:p>
          <a:p>
            <a:pPr>
              <a:defRPr sz="1000">
                <a:solidFill>
                  <a:srgbClr val="64748B"/>
                </a:solidFill>
                <a:latin typeface="Arial"/>
              </a:defRPr>
            </a:pPr>
            <a:r>
              <a:t>  Kho nguyên liệu này được tự động trích xuất và đưa vào câu lệnh hệ thống (System Prompt) làm căn cứ gợi ý món ăn chuẩn xác.</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10728655" cy="822960"/>
          </a:xfrm>
          <a:prstGeom prst="rect">
            <a:avLst/>
          </a:prstGeom>
          <a:noFill/>
        </p:spPr>
        <p:txBody>
          <a:bodyPr wrap="square" lIns="0" tIns="0" rIns="0" bIns="0">
            <a:spAutoFit/>
          </a:bodyPr>
          <a:lstStyle/>
          <a:p>
            <a:pPr>
              <a:defRPr sz="1000" b="1">
                <a:solidFill>
                  <a:srgbClr val="E3562A"/>
                </a:solidFill>
                <a:latin typeface="Arial"/>
              </a:defRPr>
            </a:pPr>
            <a:r>
              <a:t>CHƯƠNG 2: PHÂN TÍCH BÀI TOÁN</a:t>
            </a:r>
          </a:p>
          <a:p>
            <a:pPr>
              <a:spcBef>
                <a:spcPts val="300"/>
              </a:spcBef>
              <a:defRPr sz="2200" b="1">
                <a:solidFill>
                  <a:srgbClr val="0F172A"/>
                </a:solidFill>
                <a:latin typeface="Arial"/>
              </a:defRPr>
            </a:pPr>
            <a:r>
              <a:t>2.2.2. Trợ lý AI Thông minh &amp; Tìm kiếm tức thì</a:t>
            </a:r>
          </a:p>
        </p:txBody>
      </p:sp>
      <p:sp>
        <p:nvSpPr>
          <p:cNvPr id="3" name="Rectangle 2"/>
          <p:cNvSpPr/>
          <p:nvPr/>
        </p:nvSpPr>
        <p:spPr>
          <a:xfrm>
            <a:off x="731520" y="1234440"/>
            <a:ext cx="10728655" cy="27432"/>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31520" y="1234440"/>
            <a:ext cx="1097280" cy="27432"/>
          </a:xfrm>
          <a:prstGeom prst="rect">
            <a:avLst/>
          </a:prstGeom>
          <a:solidFill>
            <a:srgbClr val="E356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6309360"/>
            <a:ext cx="10728655" cy="365760"/>
          </a:xfrm>
          <a:prstGeom prst="rect">
            <a:avLst/>
          </a:prstGeom>
          <a:noFill/>
        </p:spPr>
        <p:txBody>
          <a:bodyPr wrap="square" lIns="0" tIns="0" rIns="0" bIns="0">
            <a:spAutoFit/>
          </a:bodyPr>
          <a:lstStyle/>
          <a:p>
            <a:pPr>
              <a:defRPr sz="900">
                <a:solidFill>
                  <a:srgbClr val="64748B"/>
                </a:solidFill>
                <a:latin typeface="Arial"/>
              </a:defRPr>
            </a:pPr>
            <a:r>
              <a:t>Trường CĐ Kỹ thuật - Công nghệ Bách Khoa • Môn: Phát triển Ứng dụng Di động • Nhóm TT602-K16LT</a:t>
            </a:r>
          </a:p>
        </p:txBody>
      </p:sp>
      <p:sp>
        <p:nvSpPr>
          <p:cNvPr id="6" name="TextBox 5"/>
          <p:cNvSpPr txBox="1"/>
          <p:nvPr/>
        </p:nvSpPr>
        <p:spPr>
          <a:xfrm>
            <a:off x="10515600" y="6309360"/>
            <a:ext cx="914400" cy="365760"/>
          </a:xfrm>
          <a:prstGeom prst="rect">
            <a:avLst/>
          </a:prstGeom>
          <a:noFill/>
        </p:spPr>
        <p:txBody>
          <a:bodyPr wrap="none" lIns="0" tIns="0" rIns="0" bIns="0">
            <a:spAutoFit/>
          </a:bodyPr>
          <a:lstStyle/>
          <a:p>
            <a:pPr algn="r">
              <a:defRPr sz="900" b="1">
                <a:solidFill>
                  <a:srgbClr val="E3562A"/>
                </a:solidFill>
                <a:latin typeface="Arial"/>
              </a:defRPr>
            </a:pPr>
            <a:r>
              <a:t>09 / 19</a:t>
            </a:r>
          </a:p>
        </p:txBody>
      </p:sp>
      <p:sp>
        <p:nvSpPr>
          <p:cNvPr id="7" name="Rounded Rectangle 6"/>
          <p:cNvSpPr/>
          <p:nvPr/>
        </p:nvSpPr>
        <p:spPr>
          <a:xfrm>
            <a:off x="731520" y="1463040"/>
            <a:ext cx="3456432" cy="46177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914400" y="1645920"/>
            <a:ext cx="3090672" cy="685800"/>
          </a:xfrm>
          <a:prstGeom prst="roundRect">
            <a:avLst/>
          </a:prstGeom>
          <a:solidFill>
            <a:srgbClr val="E3562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1">
                <a:solidFill>
                  <a:srgbClr val="FFFFFF"/>
                </a:solidFill>
                <a:latin typeface="Arial"/>
              </a:defRPr>
            </a:pPr>
            <a:r>
              <a:t>NẠP NGỮ CẢNH TỰ ĐỘNG</a:t>
            </a:r>
            <a:br/>
            <a:r>
              <a:t>(Context Injection)</a:t>
            </a:r>
          </a:p>
        </p:txBody>
      </p:sp>
      <p:sp>
        <p:nvSpPr>
          <p:cNvPr id="9" name="TextBox 8"/>
          <p:cNvSpPr txBox="1"/>
          <p:nvPr/>
        </p:nvSpPr>
        <p:spPr>
          <a:xfrm>
            <a:off x="914400" y="2468880"/>
            <a:ext cx="3090672" cy="3474720"/>
          </a:xfrm>
          <a:prstGeom prst="rect">
            <a:avLst/>
          </a:prstGeom>
          <a:noFill/>
        </p:spPr>
        <p:txBody>
          <a:bodyPr wrap="square">
            <a:spAutoFit/>
          </a:bodyPr>
          <a:lstStyle/>
          <a:p>
            <a:pPr>
              <a:defRPr sz="1050">
                <a:solidFill>
                  <a:srgbClr val="0F172A"/>
                </a:solidFill>
                <a:latin typeface="Arial"/>
              </a:defRPr>
            </a:pPr>
            <a:r>
              <a:t>• Tự động quét kho thực phẩm hiện có trong tủ lạnh (Pantry).</a:t>
            </a:r>
          </a:p>
          <a:p>
            <a:pPr>
              <a:spcBef>
                <a:spcPts val="800"/>
              </a:spcBef>
              <a:defRPr sz="1050">
                <a:solidFill>
                  <a:srgbClr val="0F172A"/>
                </a:solidFill>
                <a:latin typeface="Arial"/>
              </a:defRPr>
            </a:pPr>
            <a:r>
              <a:t>• Nạp 5 món ăn người dùng yêu thích nhất (Favorites).</a:t>
            </a:r>
          </a:p>
          <a:p>
            <a:pPr>
              <a:spcBef>
                <a:spcPts val="800"/>
              </a:spcBef>
              <a:defRPr sz="1050">
                <a:solidFill>
                  <a:srgbClr val="0F172A"/>
                </a:solidFill>
                <a:latin typeface="Arial"/>
              </a:defRPr>
            </a:pPr>
            <a:r>
              <a:t>• Nạp lịch sử các món đã nấu gần đây (CookHistory).</a:t>
            </a:r>
          </a:p>
          <a:p>
            <a:pPr>
              <a:spcBef>
                <a:spcPts val="800"/>
              </a:spcBef>
              <a:defRPr sz="1050">
                <a:solidFill>
                  <a:srgbClr val="0F172A"/>
                </a:solidFill>
                <a:latin typeface="Arial"/>
              </a:defRPr>
            </a:pPr>
            <a:r>
              <a:t>• → Ghép vào System Prompt để AI gợi ý đúng khẩu vị và thực tế.</a:t>
            </a:r>
          </a:p>
        </p:txBody>
      </p:sp>
      <p:sp>
        <p:nvSpPr>
          <p:cNvPr id="10" name="Rounded Rectangle 9"/>
          <p:cNvSpPr/>
          <p:nvPr/>
        </p:nvSpPr>
        <p:spPr>
          <a:xfrm>
            <a:off x="4370832" y="1463040"/>
            <a:ext cx="3456432" cy="46177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4553712" y="1645920"/>
            <a:ext cx="3090672" cy="68580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1">
                <a:solidFill>
                  <a:srgbClr val="FFFFFF"/>
                </a:solidFill>
                <a:latin typeface="Arial"/>
              </a:defRPr>
            </a:pPr>
            <a:r>
              <a:t>PHÍM TẮT &amp; FALLBACK NGOẠI TUYẾN</a:t>
            </a:r>
            <a:br/>
            <a:r>
              <a:t>(Quick Prompts &amp; Offline Engine)</a:t>
            </a:r>
          </a:p>
        </p:txBody>
      </p:sp>
      <p:sp>
        <p:nvSpPr>
          <p:cNvPr id="12" name="TextBox 11"/>
          <p:cNvSpPr txBox="1"/>
          <p:nvPr/>
        </p:nvSpPr>
        <p:spPr>
          <a:xfrm>
            <a:off x="4553712" y="2468880"/>
            <a:ext cx="3090672" cy="3474720"/>
          </a:xfrm>
          <a:prstGeom prst="rect">
            <a:avLst/>
          </a:prstGeom>
          <a:noFill/>
        </p:spPr>
        <p:txBody>
          <a:bodyPr wrap="square">
            <a:spAutoFit/>
          </a:bodyPr>
          <a:lstStyle/>
          <a:p>
            <a:pPr>
              <a:defRPr sz="1050">
                <a:solidFill>
                  <a:srgbClr val="0F172A"/>
                </a:solidFill>
                <a:latin typeface="Arial"/>
              </a:defRPr>
            </a:pPr>
            <a:r>
              <a:t>• Gợi ý nhanh 1 chạm: 'Món từ tủ lạnh', 'Món 15 phút', 'Món chay', 'Món cay'.</a:t>
            </a:r>
          </a:p>
          <a:p>
            <a:pPr>
              <a:spcBef>
                <a:spcPts val="800"/>
              </a:spcBef>
              <a:defRPr sz="1050">
                <a:solidFill>
                  <a:srgbClr val="0F172A"/>
                </a:solidFill>
                <a:latin typeface="Arial"/>
              </a:defRPr>
            </a:pPr>
            <a:r>
              <a:t>• Lưu vết lịch sử hội thoại vào bảng ChatMessageEntity trong SQLite.</a:t>
            </a:r>
          </a:p>
          <a:p>
            <a:pPr>
              <a:spcBef>
                <a:spcPts val="800"/>
              </a:spcBef>
              <a:defRPr sz="1050">
                <a:solidFill>
                  <a:srgbClr val="0F172A"/>
                </a:solidFill>
                <a:latin typeface="Arial"/>
              </a:defRPr>
            </a:pPr>
            <a:r>
              <a:t>• Cơ chế Fallback thông minh: Tự động chuyển sang thuật toán RuleBasedAi khi mất mạng hoặc chưa nhập API Key.</a:t>
            </a:r>
          </a:p>
        </p:txBody>
      </p:sp>
      <p:sp>
        <p:nvSpPr>
          <p:cNvPr id="13" name="Rounded Rectangle 12"/>
          <p:cNvSpPr/>
          <p:nvPr/>
        </p:nvSpPr>
        <p:spPr>
          <a:xfrm>
            <a:off x="8010144" y="1463040"/>
            <a:ext cx="3456432" cy="46177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8193024" y="1645920"/>
            <a:ext cx="3090672" cy="68580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1">
                <a:solidFill>
                  <a:srgbClr val="FFFFFF"/>
                </a:solidFill>
                <a:latin typeface="Arial"/>
              </a:defRPr>
            </a:pPr>
            <a:r>
              <a:t>TÌM KIẾM TỨC THÌ DEBOUNCE 300MS</a:t>
            </a:r>
            <a:br/>
            <a:r>
              <a:t>(High-Performance Search)</a:t>
            </a:r>
          </a:p>
        </p:txBody>
      </p:sp>
      <p:sp>
        <p:nvSpPr>
          <p:cNvPr id="15" name="TextBox 14"/>
          <p:cNvSpPr txBox="1"/>
          <p:nvPr/>
        </p:nvSpPr>
        <p:spPr>
          <a:xfrm>
            <a:off x="8193024" y="2468880"/>
            <a:ext cx="3090672" cy="3474720"/>
          </a:xfrm>
          <a:prstGeom prst="rect">
            <a:avLst/>
          </a:prstGeom>
          <a:noFill/>
        </p:spPr>
        <p:txBody>
          <a:bodyPr wrap="square">
            <a:spAutoFit/>
          </a:bodyPr>
          <a:lstStyle/>
          <a:p>
            <a:pPr>
              <a:defRPr sz="1050">
                <a:solidFill>
                  <a:srgbClr val="0F172A"/>
                </a:solidFill>
                <a:latin typeface="Arial"/>
              </a:defRPr>
            </a:pPr>
            <a:r>
              <a:t>• Debounce 300ms: Gom cụm các sự kiện gõ phím, triệt tiêu việc gửi truy vấn liên tục gây giật lag CPU.</a:t>
            </a:r>
          </a:p>
          <a:p>
            <a:pPr>
              <a:spcBef>
                <a:spcPts val="800"/>
              </a:spcBef>
              <a:defRPr sz="1050">
                <a:solidFill>
                  <a:srgbClr val="0F172A"/>
                </a:solidFill>
                <a:latin typeface="Arial"/>
              </a:defRPr>
            </a:pPr>
            <a:r>
              <a:t>• Tìm kiếm đa thuộc tính: Khớp theo tên món, mô tả, ghi chú và danh sách nguyên liệu.</a:t>
            </a:r>
          </a:p>
          <a:p>
            <a:pPr>
              <a:spcBef>
                <a:spcPts val="800"/>
              </a:spcBef>
              <a:defRPr sz="1050">
                <a:solidFill>
                  <a:srgbClr val="0F172A"/>
                </a:solidFill>
                <a:latin typeface="Arial"/>
              </a:defRPr>
            </a:pPr>
            <a:r>
              <a:t>• Tốc độ phản hồi &lt; 50ms nhờ chỉ mục Index tối ưu trong Room Database.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10728655" cy="822960"/>
          </a:xfrm>
          <a:prstGeom prst="rect">
            <a:avLst/>
          </a:prstGeom>
          <a:noFill/>
        </p:spPr>
        <p:txBody>
          <a:bodyPr wrap="square" lIns="0" tIns="0" rIns="0" bIns="0">
            <a:spAutoFit/>
          </a:bodyPr>
          <a:lstStyle/>
          <a:p>
            <a:pPr>
              <a:defRPr sz="1000" b="1">
                <a:solidFill>
                  <a:srgbClr val="E3562A"/>
                </a:solidFill>
                <a:latin typeface="Arial"/>
              </a:defRPr>
            </a:pPr>
            <a:r>
              <a:t>CHƯƠNG 2: PHÂN TÍCH BÀI TOÁN</a:t>
            </a:r>
          </a:p>
          <a:p>
            <a:pPr>
              <a:spcBef>
                <a:spcPts val="300"/>
              </a:spcBef>
              <a:defRPr sz="2200" b="1">
                <a:solidFill>
                  <a:srgbClr val="0F172A"/>
                </a:solidFill>
                <a:latin typeface="Arial"/>
              </a:defRPr>
            </a:pPr>
            <a:r>
              <a:t>2.3. Yêu cầu phi chức năng &amp; Bảo mật</a:t>
            </a:r>
          </a:p>
        </p:txBody>
      </p:sp>
      <p:sp>
        <p:nvSpPr>
          <p:cNvPr id="3" name="Rectangle 2"/>
          <p:cNvSpPr/>
          <p:nvPr/>
        </p:nvSpPr>
        <p:spPr>
          <a:xfrm>
            <a:off x="731520" y="1234440"/>
            <a:ext cx="10728655" cy="27432"/>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31520" y="1234440"/>
            <a:ext cx="1097280" cy="27432"/>
          </a:xfrm>
          <a:prstGeom prst="rect">
            <a:avLst/>
          </a:prstGeom>
          <a:solidFill>
            <a:srgbClr val="E356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6309360"/>
            <a:ext cx="10728655" cy="365760"/>
          </a:xfrm>
          <a:prstGeom prst="rect">
            <a:avLst/>
          </a:prstGeom>
          <a:noFill/>
        </p:spPr>
        <p:txBody>
          <a:bodyPr wrap="square" lIns="0" tIns="0" rIns="0" bIns="0">
            <a:spAutoFit/>
          </a:bodyPr>
          <a:lstStyle/>
          <a:p>
            <a:pPr>
              <a:defRPr sz="900">
                <a:solidFill>
                  <a:srgbClr val="64748B"/>
                </a:solidFill>
                <a:latin typeface="Arial"/>
              </a:defRPr>
            </a:pPr>
            <a:r>
              <a:t>Trường CĐ Kỹ thuật - Công nghệ Bách Khoa • Môn: Phát triển Ứng dụng Di động • Nhóm TT602-K16LT</a:t>
            </a:r>
          </a:p>
        </p:txBody>
      </p:sp>
      <p:sp>
        <p:nvSpPr>
          <p:cNvPr id="6" name="TextBox 5"/>
          <p:cNvSpPr txBox="1"/>
          <p:nvPr/>
        </p:nvSpPr>
        <p:spPr>
          <a:xfrm>
            <a:off x="10515600" y="6309360"/>
            <a:ext cx="914400" cy="365760"/>
          </a:xfrm>
          <a:prstGeom prst="rect">
            <a:avLst/>
          </a:prstGeom>
          <a:noFill/>
        </p:spPr>
        <p:txBody>
          <a:bodyPr wrap="none" lIns="0" tIns="0" rIns="0" bIns="0">
            <a:spAutoFit/>
          </a:bodyPr>
          <a:lstStyle/>
          <a:p>
            <a:pPr algn="r">
              <a:defRPr sz="900" b="1">
                <a:solidFill>
                  <a:srgbClr val="E3562A"/>
                </a:solidFill>
                <a:latin typeface="Arial"/>
              </a:defRPr>
            </a:pPr>
            <a:r>
              <a:t>10 / 19</a:t>
            </a:r>
          </a:p>
        </p:txBody>
      </p:sp>
      <p:sp>
        <p:nvSpPr>
          <p:cNvPr id="7" name="Rounded Rectangle 6"/>
          <p:cNvSpPr/>
          <p:nvPr/>
        </p:nvSpPr>
        <p:spPr>
          <a:xfrm>
            <a:off x="731520" y="1463040"/>
            <a:ext cx="5285232" cy="21488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1572768"/>
            <a:ext cx="4919472" cy="365760"/>
          </a:xfrm>
          <a:prstGeom prst="rect">
            <a:avLst/>
          </a:prstGeom>
          <a:noFill/>
        </p:spPr>
        <p:txBody>
          <a:bodyPr wrap="none" lIns="0" tIns="0" rIns="0" bIns="0">
            <a:spAutoFit/>
          </a:bodyPr>
          <a:lstStyle/>
          <a:p>
            <a:pPr>
              <a:defRPr sz="1100" b="1">
                <a:solidFill>
                  <a:srgbClr val="E3562A"/>
                </a:solidFill>
                <a:latin typeface="Arial"/>
              </a:defRPr>
            </a:pPr>
            <a:r>
              <a:t>HIỆU NĂNG &amp; PHẢN HỒI (PERFORMANCE)</a:t>
            </a:r>
          </a:p>
        </p:txBody>
      </p:sp>
      <p:sp>
        <p:nvSpPr>
          <p:cNvPr id="9" name="TextBox 8"/>
          <p:cNvSpPr txBox="1"/>
          <p:nvPr/>
        </p:nvSpPr>
        <p:spPr>
          <a:xfrm>
            <a:off x="914400" y="1901952"/>
            <a:ext cx="4919472" cy="1600200"/>
          </a:xfrm>
          <a:prstGeom prst="rect">
            <a:avLst/>
          </a:prstGeom>
          <a:noFill/>
        </p:spPr>
        <p:txBody>
          <a:bodyPr wrap="square" lIns="0" tIns="0" rIns="0" bIns="0">
            <a:spAutoFit/>
          </a:bodyPr>
          <a:lstStyle/>
          <a:p>
            <a:pPr>
              <a:defRPr sz="1000" b="1">
                <a:solidFill>
                  <a:srgbClr val="0F172A"/>
                </a:solidFill>
                <a:latin typeface="Arial"/>
              </a:defRPr>
            </a:pPr>
            <a:r>
              <a:t>• Cold Start &lt; 1.0 giây: </a:t>
            </a:r>
          </a:p>
          <a:p>
            <a:pPr>
              <a:defRPr sz="950">
                <a:solidFill>
                  <a:srgbClr val="64748B"/>
                </a:solidFill>
                <a:latin typeface="Arial"/>
              </a:defRPr>
            </a:pPr>
            <a:r>
              <a:t>  Tốc độ khởi động ban đầu đạt dưới 1 giây nhờ tối ưu hóa Dependency Injection và khởi tạo Database nhẹ.</a:t>
            </a:r>
          </a:p>
          <a:p>
            <a:pPr>
              <a:spcBef>
                <a:spcPts val="300"/>
              </a:spcBef>
              <a:defRPr sz="1000" b="1">
                <a:solidFill>
                  <a:srgbClr val="0F172A"/>
                </a:solidFill>
                <a:latin typeface="Arial"/>
              </a:defRPr>
            </a:pPr>
            <a:r>
              <a:t>• Search Latency &lt; 50ms: </a:t>
            </a:r>
          </a:p>
          <a:p>
            <a:pPr>
              <a:defRPr sz="950">
                <a:solidFill>
                  <a:srgbClr val="64748B"/>
                </a:solidFill>
                <a:latin typeface="Arial"/>
              </a:defRPr>
            </a:pPr>
            <a:r>
              <a:t>  Thao tác tìm kiếm phản hồi tức thì dưới 50ms nhờ cấu trúc bảng và index hợp lý trên SQLite.</a:t>
            </a:r>
          </a:p>
          <a:p>
            <a:pPr>
              <a:spcBef>
                <a:spcPts val="300"/>
              </a:spcBef>
              <a:defRPr sz="1000" b="1">
                <a:solidFill>
                  <a:srgbClr val="0F172A"/>
                </a:solidFill>
                <a:latin typeface="Arial"/>
              </a:defRPr>
            </a:pPr>
            <a:r>
              <a:t>• Cuộn mượt mà 60 - 120 fps: </a:t>
            </a:r>
          </a:p>
          <a:p>
            <a:pPr>
              <a:defRPr sz="950">
                <a:solidFill>
                  <a:srgbClr val="64748B"/>
                </a:solidFill>
                <a:latin typeface="Arial"/>
              </a:defRPr>
            </a:pPr>
            <a:r>
              <a:t>  Các danh sách (LazyColumn) được tối ưu hóa cơ chế tái sử dụng Composable, loại bỏ hoàn toàn hiện tượng jank.</a:t>
            </a:r>
          </a:p>
        </p:txBody>
      </p:sp>
      <p:sp>
        <p:nvSpPr>
          <p:cNvPr id="10" name="Rounded Rectangle 9"/>
          <p:cNvSpPr/>
          <p:nvPr/>
        </p:nvSpPr>
        <p:spPr>
          <a:xfrm>
            <a:off x="6172200" y="1463040"/>
            <a:ext cx="5285232" cy="21488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355080" y="1572768"/>
            <a:ext cx="4919472" cy="365760"/>
          </a:xfrm>
          <a:prstGeom prst="rect">
            <a:avLst/>
          </a:prstGeom>
          <a:noFill/>
        </p:spPr>
        <p:txBody>
          <a:bodyPr wrap="none" lIns="0" tIns="0" rIns="0" bIns="0">
            <a:spAutoFit/>
          </a:bodyPr>
          <a:lstStyle/>
          <a:p>
            <a:pPr>
              <a:defRPr sz="1100" b="1">
                <a:solidFill>
                  <a:srgbClr val="F59E0B"/>
                </a:solidFill>
                <a:latin typeface="Arial"/>
              </a:defRPr>
            </a:pPr>
            <a:r>
              <a:t>AN TOÀN VÒNG ĐỜI (LIFECYCLE SAFETY)</a:t>
            </a:r>
          </a:p>
        </p:txBody>
      </p:sp>
      <p:sp>
        <p:nvSpPr>
          <p:cNvPr id="12" name="TextBox 11"/>
          <p:cNvSpPr txBox="1"/>
          <p:nvPr/>
        </p:nvSpPr>
        <p:spPr>
          <a:xfrm>
            <a:off x="6355080" y="1901952"/>
            <a:ext cx="4919472" cy="1600200"/>
          </a:xfrm>
          <a:prstGeom prst="rect">
            <a:avLst/>
          </a:prstGeom>
          <a:noFill/>
        </p:spPr>
        <p:txBody>
          <a:bodyPr wrap="square" lIns="0" tIns="0" rIns="0" bIns="0">
            <a:spAutoFit/>
          </a:bodyPr>
          <a:lstStyle/>
          <a:p>
            <a:pPr>
              <a:defRPr sz="1000" b="1">
                <a:solidFill>
                  <a:srgbClr val="0F172A"/>
                </a:solidFill>
                <a:latin typeface="Arial"/>
              </a:defRPr>
            </a:pPr>
            <a:r>
              <a:t>• 100% Màn hình chuẩn UDF: </a:t>
            </a:r>
          </a:p>
          <a:p>
            <a:pPr>
              <a:defRPr sz="950">
                <a:solidFill>
                  <a:srgbClr val="64748B"/>
                </a:solidFill>
                <a:latin typeface="Arial"/>
              </a:defRPr>
            </a:pPr>
            <a:r>
              <a:t>  Thu thập State bằng `collectAsStateWithLifecycle()` thay vì collectAsState thông thường.</a:t>
            </a:r>
          </a:p>
          <a:p>
            <a:pPr>
              <a:spcBef>
                <a:spcPts val="300"/>
              </a:spcBef>
              <a:defRPr sz="1000" b="1">
                <a:solidFill>
                  <a:srgbClr val="0F172A"/>
                </a:solidFill>
                <a:latin typeface="Arial"/>
              </a:defRPr>
            </a:pPr>
            <a:r>
              <a:t>• Tự ngắt luồng ở Background: </a:t>
            </a:r>
          </a:p>
          <a:p>
            <a:pPr>
              <a:defRPr sz="950">
                <a:solidFill>
                  <a:srgbClr val="64748B"/>
                </a:solidFill>
                <a:latin typeface="Arial"/>
              </a:defRPr>
            </a:pPr>
            <a:r>
              <a:t>  Tự động dừng lắng nghe luồng dữ liệu khi ứng dụng vào chế độ nền, triệt tiêu hoàn toàn rò rỉ bộ nhớ (memory leaks).</a:t>
            </a:r>
          </a:p>
          <a:p>
            <a:pPr>
              <a:spcBef>
                <a:spcPts val="300"/>
              </a:spcBef>
              <a:defRPr sz="1000" b="1">
                <a:solidFill>
                  <a:srgbClr val="0F172A"/>
                </a:solidFill>
                <a:latin typeface="Arial"/>
              </a:defRPr>
            </a:pPr>
            <a:r>
              <a:t>• SharingStarted.WhileSubscribed: </a:t>
            </a:r>
          </a:p>
          <a:p>
            <a:pPr>
              <a:defRPr sz="950">
                <a:solidFill>
                  <a:srgbClr val="64748B"/>
                </a:solidFill>
                <a:latin typeface="Arial"/>
              </a:defRPr>
            </a:pPr>
            <a:r>
              <a:t>  StateFlow tự động hủy kích hoạt upstream sau 5 giây không còn người đăng ký theo dõi.</a:t>
            </a:r>
          </a:p>
        </p:txBody>
      </p:sp>
      <p:sp>
        <p:nvSpPr>
          <p:cNvPr id="13" name="Rounded Rectangle 12"/>
          <p:cNvSpPr/>
          <p:nvPr/>
        </p:nvSpPr>
        <p:spPr>
          <a:xfrm>
            <a:off x="731520" y="3749039"/>
            <a:ext cx="5285232" cy="21488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14400" y="3858767"/>
            <a:ext cx="4919472" cy="365760"/>
          </a:xfrm>
          <a:prstGeom prst="rect">
            <a:avLst/>
          </a:prstGeom>
          <a:noFill/>
        </p:spPr>
        <p:txBody>
          <a:bodyPr wrap="none" lIns="0" tIns="0" rIns="0" bIns="0">
            <a:spAutoFit/>
          </a:bodyPr>
          <a:lstStyle/>
          <a:p>
            <a:pPr>
              <a:defRPr sz="1100" b="1">
                <a:solidFill>
                  <a:srgbClr val="10B981"/>
                </a:solidFill>
                <a:latin typeface="Arial"/>
              </a:defRPr>
            </a:pPr>
            <a:r>
              <a:t>BẢO MẬT &amp; MÃ HÓA (SECURITY)</a:t>
            </a:r>
          </a:p>
        </p:txBody>
      </p:sp>
      <p:sp>
        <p:nvSpPr>
          <p:cNvPr id="15" name="TextBox 14"/>
          <p:cNvSpPr txBox="1"/>
          <p:nvPr/>
        </p:nvSpPr>
        <p:spPr>
          <a:xfrm>
            <a:off x="914400" y="4187951"/>
            <a:ext cx="4919472" cy="1600200"/>
          </a:xfrm>
          <a:prstGeom prst="rect">
            <a:avLst/>
          </a:prstGeom>
          <a:noFill/>
        </p:spPr>
        <p:txBody>
          <a:bodyPr wrap="square" lIns="0" tIns="0" rIns="0" bIns="0">
            <a:spAutoFit/>
          </a:bodyPr>
          <a:lstStyle/>
          <a:p>
            <a:pPr>
              <a:defRPr sz="1000" b="1">
                <a:solidFill>
                  <a:srgbClr val="0F172A"/>
                </a:solidFill>
                <a:latin typeface="Arial"/>
              </a:defRPr>
            </a:pPr>
            <a:r>
              <a:t>• Tiêu chuẩn mã hóa AES-256 GCM: </a:t>
            </a:r>
          </a:p>
          <a:p>
            <a:pPr>
              <a:defRPr sz="950">
                <a:solidFill>
                  <a:srgbClr val="64748B"/>
                </a:solidFill>
                <a:latin typeface="Arial"/>
              </a:defRPr>
            </a:pPr>
            <a:r>
              <a:t>  Mã khóa API Key của các dịch vụ AI được mã hóa an toàn qua Jetpack Security (EncryptedSharedPreferences).</a:t>
            </a:r>
          </a:p>
          <a:p>
            <a:pPr>
              <a:spcBef>
                <a:spcPts val="300"/>
              </a:spcBef>
              <a:defRPr sz="1000" b="1">
                <a:solidFill>
                  <a:srgbClr val="0F172A"/>
                </a:solidFill>
                <a:latin typeface="Arial"/>
              </a:defRPr>
            </a:pPr>
            <a:r>
              <a:t>• Không lưu trữ Plaintext: </a:t>
            </a:r>
          </a:p>
          <a:p>
            <a:pPr>
              <a:defRPr sz="950">
                <a:solidFill>
                  <a:srgbClr val="64748B"/>
                </a:solidFill>
                <a:latin typeface="Arial"/>
              </a:defRPr>
            </a:pPr>
            <a:r>
              <a:t>  Không bao giờ lưu khóa dưới dạng văn bản thường và không ghi log nhạy cảm.</a:t>
            </a:r>
          </a:p>
          <a:p>
            <a:pPr>
              <a:spcBef>
                <a:spcPts val="300"/>
              </a:spcBef>
              <a:defRPr sz="1000" b="1">
                <a:solidFill>
                  <a:srgbClr val="0F172A"/>
                </a:solidFill>
                <a:latin typeface="Arial"/>
              </a:defRPr>
            </a:pPr>
            <a:r>
              <a:t>• Sao lưu DB độc lập: </a:t>
            </a:r>
          </a:p>
          <a:p>
            <a:pPr>
              <a:defRPr sz="950">
                <a:solidFill>
                  <a:srgbClr val="64748B"/>
                </a:solidFill>
                <a:latin typeface="Arial"/>
              </a:defRPr>
            </a:pPr>
            <a:r>
              <a:t>  Xuất bản sao `cookingnote-backup.db` bất đồng bộ trên luồng IO, chia sẻ an toàn qua Android FileProvider.</a:t>
            </a:r>
          </a:p>
        </p:txBody>
      </p:sp>
      <p:sp>
        <p:nvSpPr>
          <p:cNvPr id="16" name="Rounded Rectangle 15"/>
          <p:cNvSpPr/>
          <p:nvPr/>
        </p:nvSpPr>
        <p:spPr>
          <a:xfrm>
            <a:off x="6172200" y="3749039"/>
            <a:ext cx="5285232" cy="21488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355080" y="3858767"/>
            <a:ext cx="4919472" cy="365760"/>
          </a:xfrm>
          <a:prstGeom prst="rect">
            <a:avLst/>
          </a:prstGeom>
          <a:noFill/>
        </p:spPr>
        <p:txBody>
          <a:bodyPr wrap="none" lIns="0" tIns="0" rIns="0" bIns="0">
            <a:spAutoFit/>
          </a:bodyPr>
          <a:lstStyle/>
          <a:p>
            <a:pPr>
              <a:defRPr sz="1100" b="1">
                <a:solidFill>
                  <a:srgbClr val="1E293B"/>
                </a:solidFill>
                <a:latin typeface="Arial"/>
              </a:defRPr>
            </a:pPr>
            <a:r>
              <a:t>VẬN HÀNH NGOẠI TUYẾN (OFFLINE-FIRST)</a:t>
            </a:r>
          </a:p>
        </p:txBody>
      </p:sp>
      <p:sp>
        <p:nvSpPr>
          <p:cNvPr id="18" name="TextBox 17"/>
          <p:cNvSpPr txBox="1"/>
          <p:nvPr/>
        </p:nvSpPr>
        <p:spPr>
          <a:xfrm>
            <a:off x="6355080" y="4187951"/>
            <a:ext cx="4919472" cy="1600200"/>
          </a:xfrm>
          <a:prstGeom prst="rect">
            <a:avLst/>
          </a:prstGeom>
          <a:noFill/>
        </p:spPr>
        <p:txBody>
          <a:bodyPr wrap="square" lIns="0" tIns="0" rIns="0" bIns="0">
            <a:spAutoFit/>
          </a:bodyPr>
          <a:lstStyle/>
          <a:p>
            <a:pPr>
              <a:defRPr sz="1000" b="1">
                <a:solidFill>
                  <a:srgbClr val="0F172A"/>
                </a:solidFill>
                <a:latin typeface="Arial"/>
              </a:defRPr>
            </a:pPr>
            <a:r>
              <a:t>• Độc lập 100% không cần mạng: </a:t>
            </a:r>
          </a:p>
          <a:p>
            <a:pPr>
              <a:defRPr sz="950">
                <a:solidFill>
                  <a:srgbClr val="64748B"/>
                </a:solidFill>
                <a:latin typeface="Arial"/>
              </a:defRPr>
            </a:pPr>
            <a:r>
              <a:t>  Mọi nghiệp vụ CRUD công thức, danh mục, tủ lạnh, lịch sử và tìm kiếm vận hành trơn tru.</a:t>
            </a:r>
          </a:p>
          <a:p>
            <a:pPr>
              <a:spcBef>
                <a:spcPts val="300"/>
              </a:spcBef>
              <a:defRPr sz="1000" b="1">
                <a:solidFill>
                  <a:srgbClr val="0F172A"/>
                </a:solidFill>
                <a:latin typeface="Arial"/>
              </a:defRPr>
            </a:pPr>
            <a:r>
              <a:t>• Thuật toán RuleBasedAi: </a:t>
            </a:r>
          </a:p>
          <a:p>
            <a:pPr>
              <a:defRPr sz="950">
                <a:solidFill>
                  <a:srgbClr val="64748B"/>
                </a:solidFill>
                <a:latin typeface="Arial"/>
              </a:defRPr>
            </a:pPr>
            <a:r>
              <a:t>  Tự động phân tích từ khóa và đối soát kho nguyên liệu cục bộ khi không có kết nối Internet.</a:t>
            </a:r>
          </a:p>
          <a:p>
            <a:pPr>
              <a:spcBef>
                <a:spcPts val="300"/>
              </a:spcBef>
              <a:defRPr sz="1000" b="1">
                <a:solidFill>
                  <a:srgbClr val="0F172A"/>
                </a:solidFill>
                <a:latin typeface="Arial"/>
              </a:defRPr>
            </a:pPr>
            <a:r>
              <a:t>• Toàn vẹn dữ liệu: </a:t>
            </a:r>
          </a:p>
          <a:p>
            <a:pPr>
              <a:defRPr sz="950">
                <a:solidFill>
                  <a:srgbClr val="64748B"/>
                </a:solidFill>
                <a:latin typeface="Arial"/>
              </a:defRPr>
            </a:pPr>
            <a:r>
              <a:t>  Cơ sở dữ liệu lưu trữ bền bỉ trên máy người dùng, không phụ thuộc vào máy chủ trung gian.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10728655" cy="822960"/>
          </a:xfrm>
          <a:prstGeom prst="rect">
            <a:avLst/>
          </a:prstGeom>
          <a:noFill/>
        </p:spPr>
        <p:txBody>
          <a:bodyPr wrap="square" lIns="0" tIns="0" rIns="0" bIns="0">
            <a:spAutoFit/>
          </a:bodyPr>
          <a:lstStyle/>
          <a:p>
            <a:pPr>
              <a:defRPr sz="1000" b="1">
                <a:solidFill>
                  <a:srgbClr val="E3562A"/>
                </a:solidFill>
                <a:latin typeface="Arial"/>
              </a:defRPr>
            </a:pPr>
            <a:r>
              <a:t>CHƯƠNG 4: CÀI ĐẶT CHƯƠNG TRÌNH</a:t>
            </a:r>
          </a:p>
          <a:p>
            <a:pPr>
              <a:spcBef>
                <a:spcPts val="300"/>
              </a:spcBef>
              <a:defRPr sz="2200" b="1">
                <a:solidFill>
                  <a:srgbClr val="0F172A"/>
                </a:solidFill>
                <a:latin typeface="Arial"/>
              </a:defRPr>
            </a:pPr>
            <a:r>
              <a:t>4.1. Công nghệ &amp; Môi trường phát triển dự án</a:t>
            </a:r>
          </a:p>
        </p:txBody>
      </p:sp>
      <p:sp>
        <p:nvSpPr>
          <p:cNvPr id="3" name="Rectangle 2"/>
          <p:cNvSpPr/>
          <p:nvPr/>
        </p:nvSpPr>
        <p:spPr>
          <a:xfrm>
            <a:off x="731520" y="1234440"/>
            <a:ext cx="10728655" cy="27432"/>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31520" y="1234440"/>
            <a:ext cx="1097280" cy="27432"/>
          </a:xfrm>
          <a:prstGeom prst="rect">
            <a:avLst/>
          </a:prstGeom>
          <a:solidFill>
            <a:srgbClr val="E356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6309360"/>
            <a:ext cx="10728655" cy="365760"/>
          </a:xfrm>
          <a:prstGeom prst="rect">
            <a:avLst/>
          </a:prstGeom>
          <a:noFill/>
        </p:spPr>
        <p:txBody>
          <a:bodyPr wrap="square" lIns="0" tIns="0" rIns="0" bIns="0">
            <a:spAutoFit/>
          </a:bodyPr>
          <a:lstStyle/>
          <a:p>
            <a:pPr>
              <a:defRPr sz="900">
                <a:solidFill>
                  <a:srgbClr val="64748B"/>
                </a:solidFill>
                <a:latin typeface="Arial"/>
              </a:defRPr>
            </a:pPr>
            <a:r>
              <a:t>Trường CĐ Kỹ thuật - Công nghệ Bách Khoa • Môn: Phát triển Ứng dụng Di động • Nhóm TT602-K16LT</a:t>
            </a:r>
          </a:p>
        </p:txBody>
      </p:sp>
      <p:sp>
        <p:nvSpPr>
          <p:cNvPr id="6" name="TextBox 5"/>
          <p:cNvSpPr txBox="1"/>
          <p:nvPr/>
        </p:nvSpPr>
        <p:spPr>
          <a:xfrm>
            <a:off x="10515600" y="6309360"/>
            <a:ext cx="914400" cy="365760"/>
          </a:xfrm>
          <a:prstGeom prst="rect">
            <a:avLst/>
          </a:prstGeom>
          <a:noFill/>
        </p:spPr>
        <p:txBody>
          <a:bodyPr wrap="none" lIns="0" tIns="0" rIns="0" bIns="0">
            <a:spAutoFit/>
          </a:bodyPr>
          <a:lstStyle/>
          <a:p>
            <a:pPr algn="r">
              <a:defRPr sz="900" b="1">
                <a:solidFill>
                  <a:srgbClr val="E3562A"/>
                </a:solidFill>
                <a:latin typeface="Arial"/>
              </a:defRPr>
            </a:pPr>
            <a:r>
              <a:t>14 / 19</a:t>
            </a:r>
          </a:p>
        </p:txBody>
      </p:sp>
      <p:sp>
        <p:nvSpPr>
          <p:cNvPr id="7" name="Rounded Rectangle 6"/>
          <p:cNvSpPr/>
          <p:nvPr/>
        </p:nvSpPr>
        <p:spPr>
          <a:xfrm>
            <a:off x="731520" y="1463040"/>
            <a:ext cx="5285232" cy="21488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60120" y="1600200"/>
            <a:ext cx="4828032" cy="365760"/>
          </a:xfrm>
          <a:prstGeom prst="rect">
            <a:avLst/>
          </a:prstGeom>
          <a:noFill/>
        </p:spPr>
        <p:txBody>
          <a:bodyPr wrap="none" lIns="0" tIns="0" rIns="0" bIns="0">
            <a:spAutoFit/>
          </a:bodyPr>
          <a:lstStyle/>
          <a:p>
            <a:pPr>
              <a:defRPr sz="1150" b="1">
                <a:solidFill>
                  <a:srgbClr val="E3562A"/>
                </a:solidFill>
                <a:latin typeface="Arial"/>
              </a:defRPr>
            </a:pPr>
            <a:r>
              <a:t>NỀN TẢNG &amp; NGÔN NGỮ</a:t>
            </a:r>
          </a:p>
        </p:txBody>
      </p:sp>
      <p:sp>
        <p:nvSpPr>
          <p:cNvPr id="9" name="TextBox 8"/>
          <p:cNvSpPr txBox="1"/>
          <p:nvPr/>
        </p:nvSpPr>
        <p:spPr>
          <a:xfrm>
            <a:off x="960120" y="1965960"/>
            <a:ext cx="4828032" cy="1554480"/>
          </a:xfrm>
          <a:prstGeom prst="rect">
            <a:avLst/>
          </a:prstGeom>
          <a:noFill/>
        </p:spPr>
        <p:txBody>
          <a:bodyPr wrap="square" lIns="0" tIns="0" rIns="0" bIns="0">
            <a:spAutoFit/>
          </a:bodyPr>
          <a:lstStyle/>
          <a:p>
            <a:pPr>
              <a:defRPr sz="1000" b="1">
                <a:solidFill>
                  <a:srgbClr val="0F172A"/>
                </a:solidFill>
                <a:latin typeface="Arial"/>
              </a:defRPr>
            </a:pPr>
            <a:r>
              <a:t>• Ngôn ngữ lập trình: </a:t>
            </a:r>
          </a:p>
          <a:p>
            <a:pPr>
              <a:defRPr sz="950">
                <a:solidFill>
                  <a:srgbClr val="64748B"/>
                </a:solidFill>
                <a:latin typeface="Arial"/>
              </a:defRPr>
            </a:pPr>
            <a:r>
              <a:t>  Kotlin 2.0.21 (JVM Target 17)</a:t>
            </a:r>
          </a:p>
          <a:p>
            <a:pPr>
              <a:spcBef>
                <a:spcPts val="300"/>
              </a:spcBef>
              <a:defRPr sz="1000" b="1">
                <a:solidFill>
                  <a:srgbClr val="0F172A"/>
                </a:solidFill>
                <a:latin typeface="Arial"/>
              </a:defRPr>
            </a:pPr>
            <a:r>
              <a:t>• Hệ điều hành đích: </a:t>
            </a:r>
          </a:p>
          <a:p>
            <a:pPr>
              <a:defRPr sz="950">
                <a:solidFill>
                  <a:srgbClr val="64748B"/>
                </a:solidFill>
                <a:latin typeface="Arial"/>
              </a:defRPr>
            </a:pPr>
            <a:r>
              <a:t>  Android (minSdk = 26, compileSdk/targetSdk = 35)</a:t>
            </a:r>
          </a:p>
          <a:p>
            <a:pPr>
              <a:spcBef>
                <a:spcPts val="300"/>
              </a:spcBef>
              <a:defRPr sz="1000" b="1">
                <a:solidFill>
                  <a:srgbClr val="0F172A"/>
                </a:solidFill>
                <a:latin typeface="Arial"/>
              </a:defRPr>
            </a:pPr>
            <a:r>
              <a:t>• Build System: </a:t>
            </a:r>
          </a:p>
          <a:p>
            <a:pPr>
              <a:defRPr sz="950">
                <a:solidFill>
                  <a:srgbClr val="64748B"/>
                </a:solidFill>
                <a:latin typeface="Arial"/>
              </a:defRPr>
            </a:pPr>
            <a:r>
              <a:t>  Gradle 9.3.0 · Android Gradle Plugin 8.7.3</a:t>
            </a:r>
          </a:p>
          <a:p>
            <a:pPr>
              <a:spcBef>
                <a:spcPts val="300"/>
              </a:spcBef>
              <a:defRPr sz="1000" b="1">
                <a:solidFill>
                  <a:srgbClr val="0F172A"/>
                </a:solidFill>
                <a:latin typeface="Arial"/>
              </a:defRPr>
            </a:pPr>
            <a:r>
              <a:t>• Quản lý thư viện: </a:t>
            </a:r>
          </a:p>
          <a:p>
            <a:pPr>
              <a:defRPr sz="950">
                <a:solidFill>
                  <a:srgbClr val="64748B"/>
                </a:solidFill>
                <a:latin typeface="Arial"/>
              </a:defRPr>
            </a:pPr>
            <a:r>
              <a:t>  Version Catalog tập trung (libs.versions.toml)</a:t>
            </a:r>
          </a:p>
        </p:txBody>
      </p:sp>
      <p:sp>
        <p:nvSpPr>
          <p:cNvPr id="10" name="Rounded Rectangle 9"/>
          <p:cNvSpPr/>
          <p:nvPr/>
        </p:nvSpPr>
        <p:spPr>
          <a:xfrm>
            <a:off x="6172200" y="1463040"/>
            <a:ext cx="5285232" cy="21488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00800" y="1600200"/>
            <a:ext cx="4828032" cy="365760"/>
          </a:xfrm>
          <a:prstGeom prst="rect">
            <a:avLst/>
          </a:prstGeom>
          <a:noFill/>
        </p:spPr>
        <p:txBody>
          <a:bodyPr wrap="none" lIns="0" tIns="0" rIns="0" bIns="0">
            <a:spAutoFit/>
          </a:bodyPr>
          <a:lstStyle/>
          <a:p>
            <a:pPr>
              <a:defRPr sz="1150" b="1">
                <a:solidFill>
                  <a:srgbClr val="F59E0B"/>
                </a:solidFill>
                <a:latin typeface="Arial"/>
              </a:defRPr>
            </a:pPr>
            <a:r>
              <a:t>GIAO DIỆN &amp; VÒNG ĐỜI</a:t>
            </a:r>
          </a:p>
        </p:txBody>
      </p:sp>
      <p:sp>
        <p:nvSpPr>
          <p:cNvPr id="12" name="TextBox 11"/>
          <p:cNvSpPr txBox="1"/>
          <p:nvPr/>
        </p:nvSpPr>
        <p:spPr>
          <a:xfrm>
            <a:off x="6400800" y="1965960"/>
            <a:ext cx="4828032" cy="1554480"/>
          </a:xfrm>
          <a:prstGeom prst="rect">
            <a:avLst/>
          </a:prstGeom>
          <a:noFill/>
        </p:spPr>
        <p:txBody>
          <a:bodyPr wrap="square" lIns="0" tIns="0" rIns="0" bIns="0">
            <a:spAutoFit/>
          </a:bodyPr>
          <a:lstStyle/>
          <a:p>
            <a:pPr>
              <a:defRPr sz="1000" b="1">
                <a:solidFill>
                  <a:srgbClr val="0F172A"/>
                </a:solidFill>
                <a:latin typeface="Arial"/>
              </a:defRPr>
            </a:pPr>
            <a:r>
              <a:t>• Giao diện người dùng: </a:t>
            </a:r>
          </a:p>
          <a:p>
            <a:pPr>
              <a:defRPr sz="950">
                <a:solidFill>
                  <a:srgbClr val="64748B"/>
                </a:solidFill>
                <a:latin typeface="Arial"/>
              </a:defRPr>
            </a:pPr>
            <a:r>
              <a:t>  Jetpack Compose BOM 2024.12.01 · Material 3</a:t>
            </a:r>
          </a:p>
          <a:p>
            <a:pPr>
              <a:spcBef>
                <a:spcPts val="300"/>
              </a:spcBef>
              <a:defRPr sz="1000" b="1">
                <a:solidFill>
                  <a:srgbClr val="0F172A"/>
                </a:solidFill>
                <a:latin typeface="Arial"/>
              </a:defRPr>
            </a:pPr>
            <a:r>
              <a:t>• Điều hướng (Navigation): </a:t>
            </a:r>
          </a:p>
          <a:p>
            <a:pPr>
              <a:defRPr sz="950">
                <a:solidFill>
                  <a:srgbClr val="64748B"/>
                </a:solidFill>
                <a:latin typeface="Arial"/>
              </a:defRPr>
            </a:pPr>
            <a:r>
              <a:t>  Navigation Compose 2.8.4 với sealed class Route</a:t>
            </a:r>
          </a:p>
          <a:p>
            <a:pPr>
              <a:spcBef>
                <a:spcPts val="300"/>
              </a:spcBef>
              <a:defRPr sz="1000" b="1">
                <a:solidFill>
                  <a:srgbClr val="0F172A"/>
                </a:solidFill>
                <a:latin typeface="Arial"/>
              </a:defRPr>
            </a:pPr>
            <a:r>
              <a:t>• Xử lý bất đồng bộ: </a:t>
            </a:r>
          </a:p>
          <a:p>
            <a:pPr>
              <a:defRPr sz="950">
                <a:solidFill>
                  <a:srgbClr val="64748B"/>
                </a:solidFill>
                <a:latin typeface="Arial"/>
              </a:defRPr>
            </a:pPr>
            <a:r>
              <a:t>  Kotlin Coroutines 1.9.0 &amp; Reactive StateFlow</a:t>
            </a:r>
          </a:p>
          <a:p>
            <a:pPr>
              <a:spcBef>
                <a:spcPts val="300"/>
              </a:spcBef>
              <a:defRPr sz="1000" b="1">
                <a:solidFill>
                  <a:srgbClr val="0F172A"/>
                </a:solidFill>
                <a:latin typeface="Arial"/>
              </a:defRPr>
            </a:pPr>
            <a:r>
              <a:t>• Quản lý vòng đời UI: </a:t>
            </a:r>
          </a:p>
          <a:p>
            <a:pPr>
              <a:defRPr sz="950">
                <a:solidFill>
                  <a:srgbClr val="64748B"/>
                </a:solidFill>
                <a:latin typeface="Arial"/>
              </a:defRPr>
            </a:pPr>
            <a:r>
              <a:t>  Lifecycle 2.8.7 với collectAsStateWithLifecycle()</a:t>
            </a:r>
          </a:p>
        </p:txBody>
      </p:sp>
      <p:sp>
        <p:nvSpPr>
          <p:cNvPr id="13" name="Rounded Rectangle 12"/>
          <p:cNvSpPr/>
          <p:nvPr/>
        </p:nvSpPr>
        <p:spPr>
          <a:xfrm>
            <a:off x="731520" y="3749039"/>
            <a:ext cx="5285232" cy="21488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60120" y="3886199"/>
            <a:ext cx="4828032" cy="365760"/>
          </a:xfrm>
          <a:prstGeom prst="rect">
            <a:avLst/>
          </a:prstGeom>
          <a:noFill/>
        </p:spPr>
        <p:txBody>
          <a:bodyPr wrap="none" lIns="0" tIns="0" rIns="0" bIns="0">
            <a:spAutoFit/>
          </a:bodyPr>
          <a:lstStyle/>
          <a:p>
            <a:pPr>
              <a:defRPr sz="1150" b="1">
                <a:solidFill>
                  <a:srgbClr val="1E293B"/>
                </a:solidFill>
                <a:latin typeface="Arial"/>
              </a:defRPr>
            </a:pPr>
            <a:r>
              <a:t>DỮ LIỆU &amp; MẠNG</a:t>
            </a:r>
          </a:p>
        </p:txBody>
      </p:sp>
      <p:sp>
        <p:nvSpPr>
          <p:cNvPr id="15" name="TextBox 14"/>
          <p:cNvSpPr txBox="1"/>
          <p:nvPr/>
        </p:nvSpPr>
        <p:spPr>
          <a:xfrm>
            <a:off x="960120" y="4251959"/>
            <a:ext cx="4828032" cy="1554480"/>
          </a:xfrm>
          <a:prstGeom prst="rect">
            <a:avLst/>
          </a:prstGeom>
          <a:noFill/>
        </p:spPr>
        <p:txBody>
          <a:bodyPr wrap="square" lIns="0" tIns="0" rIns="0" bIns="0">
            <a:spAutoFit/>
          </a:bodyPr>
          <a:lstStyle/>
          <a:p>
            <a:pPr>
              <a:defRPr sz="1000" b="1">
                <a:solidFill>
                  <a:srgbClr val="0F172A"/>
                </a:solidFill>
                <a:latin typeface="Arial"/>
              </a:defRPr>
            </a:pPr>
            <a:r>
              <a:t>• Cơ sở dữ liệu SQLite: </a:t>
            </a:r>
          </a:p>
          <a:p>
            <a:pPr>
              <a:defRPr sz="950">
                <a:solidFill>
                  <a:srgbClr val="64748B"/>
                </a:solidFill>
                <a:latin typeface="Arial"/>
              </a:defRPr>
            </a:pPr>
            <a:r>
              <a:t>  Room Database 2.6.1 + KSP 2.0.21-1.0.27</a:t>
            </a:r>
          </a:p>
          <a:p>
            <a:pPr>
              <a:spcBef>
                <a:spcPts val="300"/>
              </a:spcBef>
              <a:defRPr sz="1000" b="1">
                <a:solidFill>
                  <a:srgbClr val="0F172A"/>
                </a:solidFill>
                <a:latin typeface="Arial"/>
              </a:defRPr>
            </a:pPr>
            <a:r>
              <a:t>• Mạng &amp; Chuyển đổi JSON: </a:t>
            </a:r>
          </a:p>
          <a:p>
            <a:pPr>
              <a:defRPr sz="950">
                <a:solidFill>
                  <a:srgbClr val="64748B"/>
                </a:solidFill>
                <a:latin typeface="Arial"/>
              </a:defRPr>
            </a:pPr>
            <a:r>
              <a:t>  Retrofit 2.11.0 · Moshi 1.15.1 · OkHttp 4.12.0</a:t>
            </a:r>
          </a:p>
          <a:p>
            <a:pPr>
              <a:spcBef>
                <a:spcPts val="300"/>
              </a:spcBef>
              <a:defRPr sz="1000" b="1">
                <a:solidFill>
                  <a:srgbClr val="0F172A"/>
                </a:solidFill>
                <a:latin typeface="Arial"/>
              </a:defRPr>
            </a:pPr>
            <a:r>
              <a:t>• Tải ảnh bất đồng bộ: </a:t>
            </a:r>
          </a:p>
          <a:p>
            <a:pPr>
              <a:defRPr sz="950">
                <a:solidFill>
                  <a:srgbClr val="64748B"/>
                </a:solidFill>
                <a:latin typeface="Arial"/>
              </a:defRPr>
            </a:pPr>
            <a:r>
              <a:t>  Coil Compose 2.7.0 tải ảnh mượt mà</a:t>
            </a:r>
          </a:p>
          <a:p>
            <a:pPr>
              <a:spcBef>
                <a:spcPts val="300"/>
              </a:spcBef>
              <a:defRPr sz="1000" b="1">
                <a:solidFill>
                  <a:srgbClr val="0F172A"/>
                </a:solidFill>
                <a:latin typeface="Arial"/>
              </a:defRPr>
            </a:pPr>
            <a:r>
              <a:t>• Lưu trữ tùy chọn: </a:t>
            </a:r>
          </a:p>
          <a:p>
            <a:pPr>
              <a:defRPr sz="950">
                <a:solidFill>
                  <a:srgbClr val="64748B"/>
                </a:solidFill>
                <a:latin typeface="Arial"/>
              </a:defRPr>
            </a:pPr>
            <a:r>
              <a:t>  DataStore Preferences 1.1.1 &amp; EncryptedSharedPreferences</a:t>
            </a:r>
          </a:p>
        </p:txBody>
      </p:sp>
      <p:sp>
        <p:nvSpPr>
          <p:cNvPr id="16" name="Rounded Rectangle 15"/>
          <p:cNvSpPr/>
          <p:nvPr/>
        </p:nvSpPr>
        <p:spPr>
          <a:xfrm>
            <a:off x="6172200" y="3749039"/>
            <a:ext cx="5285232" cy="21488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00800" y="3886199"/>
            <a:ext cx="4828032" cy="365760"/>
          </a:xfrm>
          <a:prstGeom prst="rect">
            <a:avLst/>
          </a:prstGeom>
          <a:noFill/>
        </p:spPr>
        <p:txBody>
          <a:bodyPr wrap="none" lIns="0" tIns="0" rIns="0" bIns="0">
            <a:spAutoFit/>
          </a:bodyPr>
          <a:lstStyle/>
          <a:p>
            <a:pPr>
              <a:defRPr sz="1150" b="1">
                <a:solidFill>
                  <a:srgbClr val="10B981"/>
                </a:solidFill>
                <a:latin typeface="Arial"/>
              </a:defRPr>
            </a:pPr>
            <a:r>
              <a:t>KIỂM THỬ ĐỘC LẬP JVM</a:t>
            </a:r>
          </a:p>
        </p:txBody>
      </p:sp>
      <p:sp>
        <p:nvSpPr>
          <p:cNvPr id="18" name="TextBox 17"/>
          <p:cNvSpPr txBox="1"/>
          <p:nvPr/>
        </p:nvSpPr>
        <p:spPr>
          <a:xfrm>
            <a:off x="6400800" y="4251959"/>
            <a:ext cx="4828032" cy="1554480"/>
          </a:xfrm>
          <a:prstGeom prst="rect">
            <a:avLst/>
          </a:prstGeom>
          <a:noFill/>
        </p:spPr>
        <p:txBody>
          <a:bodyPr wrap="square" lIns="0" tIns="0" rIns="0" bIns="0">
            <a:spAutoFit/>
          </a:bodyPr>
          <a:lstStyle/>
          <a:p>
            <a:pPr>
              <a:defRPr sz="1000" b="1">
                <a:solidFill>
                  <a:srgbClr val="0F172A"/>
                </a:solidFill>
                <a:latin typeface="Arial"/>
              </a:defRPr>
            </a:pPr>
            <a:r>
              <a:t>• Khung kiểm thử đơn vị: </a:t>
            </a:r>
          </a:p>
          <a:p>
            <a:pPr>
              <a:defRPr sz="950">
                <a:solidFill>
                  <a:srgbClr val="64748B"/>
                </a:solidFill>
                <a:latin typeface="Arial"/>
              </a:defRPr>
            </a:pPr>
            <a:r>
              <a:t>  JUnit 4.13.2 · kotlinx-coroutines-test</a:t>
            </a:r>
          </a:p>
          <a:p>
            <a:pPr>
              <a:spcBef>
                <a:spcPts val="300"/>
              </a:spcBef>
              <a:defRPr sz="1000" b="1">
                <a:solidFill>
                  <a:srgbClr val="0F172A"/>
                </a:solidFill>
                <a:latin typeface="Arial"/>
              </a:defRPr>
            </a:pPr>
            <a:r>
              <a:t>• Kiểm thử luồng StateFlow: </a:t>
            </a:r>
          </a:p>
          <a:p>
            <a:pPr>
              <a:defRPr sz="950">
                <a:solidFill>
                  <a:srgbClr val="64748B"/>
                </a:solidFill>
                <a:latin typeface="Arial"/>
              </a:defRPr>
            </a:pPr>
            <a:r>
              <a:t>  Turbine 1.2.0 kiểm tra phát xạ trạng thái</a:t>
            </a:r>
          </a:p>
          <a:p>
            <a:pPr>
              <a:spcBef>
                <a:spcPts val="300"/>
              </a:spcBef>
              <a:defRPr sz="1000" b="1">
                <a:solidFill>
                  <a:srgbClr val="0F172A"/>
                </a:solidFill>
                <a:latin typeface="Arial"/>
              </a:defRPr>
            </a:pPr>
            <a:r>
              <a:t>• Mô phỏng đối tượng: </a:t>
            </a:r>
          </a:p>
          <a:p>
            <a:pPr>
              <a:defRPr sz="950">
                <a:solidFill>
                  <a:srgbClr val="64748B"/>
                </a:solidFill>
                <a:latin typeface="Arial"/>
              </a:defRPr>
            </a:pPr>
            <a:r>
              <a:t>  MockK 1.13.13 cô lập và giả lập Repository/DAOs</a:t>
            </a:r>
          </a:p>
          <a:p>
            <a:pPr>
              <a:spcBef>
                <a:spcPts val="300"/>
              </a:spcBef>
              <a:defRPr sz="1000" b="1">
                <a:solidFill>
                  <a:srgbClr val="0F172A"/>
                </a:solidFill>
                <a:latin typeface="Arial"/>
              </a:defRPr>
            </a:pPr>
            <a:r>
              <a:t>• Tỷ lệ thành công: </a:t>
            </a:r>
          </a:p>
          <a:p>
            <a:pPr>
              <a:defRPr sz="950">
                <a:solidFill>
                  <a:srgbClr val="64748B"/>
                </a:solidFill>
                <a:latin typeface="Arial"/>
              </a:defRPr>
            </a:pPr>
            <a:r>
              <a:t>  100% JVM Test Pass (hơn 100 test methods)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0041211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10728655" cy="822960"/>
          </a:xfrm>
          <a:prstGeom prst="rect">
            <a:avLst/>
          </a:prstGeom>
          <a:noFill/>
        </p:spPr>
        <p:txBody>
          <a:bodyPr wrap="square" lIns="0" tIns="0" rIns="0" bIns="0">
            <a:spAutoFit/>
          </a:bodyPr>
          <a:lstStyle/>
          <a:p>
            <a:pPr>
              <a:defRPr sz="1000" b="1">
                <a:solidFill>
                  <a:srgbClr val="E3562A"/>
                </a:solidFill>
                <a:latin typeface="Arial"/>
              </a:defRPr>
            </a:pPr>
            <a:r>
              <a:t>KẾT LUẬN VÀ HƯỚNG PHÁT TRIỂN</a:t>
            </a:r>
          </a:p>
          <a:p>
            <a:pPr>
              <a:spcBef>
                <a:spcPts val="300"/>
              </a:spcBef>
              <a:defRPr sz="2200" b="1">
                <a:solidFill>
                  <a:srgbClr val="0F172A"/>
                </a:solidFill>
                <a:latin typeface="Arial"/>
              </a:defRPr>
            </a:pPr>
            <a:r>
              <a:t>KẾT LUẬN: Đánh giá kết quả đạt được</a:t>
            </a:r>
          </a:p>
        </p:txBody>
      </p:sp>
      <p:sp>
        <p:nvSpPr>
          <p:cNvPr id="3" name="Rectangle 2"/>
          <p:cNvSpPr/>
          <p:nvPr/>
        </p:nvSpPr>
        <p:spPr>
          <a:xfrm>
            <a:off x="731520" y="1234440"/>
            <a:ext cx="10728655" cy="27432"/>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31520" y="1234440"/>
            <a:ext cx="1097280" cy="27432"/>
          </a:xfrm>
          <a:prstGeom prst="rect">
            <a:avLst/>
          </a:prstGeom>
          <a:solidFill>
            <a:srgbClr val="E356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6309360"/>
            <a:ext cx="10728655" cy="365760"/>
          </a:xfrm>
          <a:prstGeom prst="rect">
            <a:avLst/>
          </a:prstGeom>
          <a:noFill/>
        </p:spPr>
        <p:txBody>
          <a:bodyPr wrap="square" lIns="0" tIns="0" rIns="0" bIns="0">
            <a:spAutoFit/>
          </a:bodyPr>
          <a:lstStyle/>
          <a:p>
            <a:pPr>
              <a:defRPr sz="900">
                <a:solidFill>
                  <a:srgbClr val="64748B"/>
                </a:solidFill>
                <a:latin typeface="Arial"/>
              </a:defRPr>
            </a:pPr>
            <a:r>
              <a:t>Trường CĐ Kỹ thuật - Công nghệ Bách Khoa • Môn: Phát triển Ứng dụng Di động • Nhóm TT602-K16LT</a:t>
            </a:r>
          </a:p>
        </p:txBody>
      </p:sp>
      <p:sp>
        <p:nvSpPr>
          <p:cNvPr id="6" name="TextBox 5"/>
          <p:cNvSpPr txBox="1"/>
          <p:nvPr/>
        </p:nvSpPr>
        <p:spPr>
          <a:xfrm>
            <a:off x="10515600" y="6309360"/>
            <a:ext cx="914400" cy="365760"/>
          </a:xfrm>
          <a:prstGeom prst="rect">
            <a:avLst/>
          </a:prstGeom>
          <a:noFill/>
        </p:spPr>
        <p:txBody>
          <a:bodyPr wrap="none" lIns="0" tIns="0" rIns="0" bIns="0">
            <a:spAutoFit/>
          </a:bodyPr>
          <a:lstStyle/>
          <a:p>
            <a:pPr algn="r">
              <a:defRPr sz="900" b="1">
                <a:solidFill>
                  <a:srgbClr val="E3562A"/>
                </a:solidFill>
                <a:latin typeface="Arial"/>
              </a:defRPr>
            </a:pPr>
            <a:r>
              <a:t>17 / 19</a:t>
            </a:r>
          </a:p>
        </p:txBody>
      </p:sp>
      <p:sp>
        <p:nvSpPr>
          <p:cNvPr id="7" name="Rounded Rectangle 6"/>
          <p:cNvSpPr/>
          <p:nvPr/>
        </p:nvSpPr>
        <p:spPr>
          <a:xfrm>
            <a:off x="731520" y="1417320"/>
            <a:ext cx="10728655" cy="731520"/>
          </a:xfrm>
          <a:prstGeom prst="roundRect">
            <a:avLst/>
          </a:prstGeom>
          <a:solidFill>
            <a:srgbClr val="F0FDFA"/>
          </a:solidFill>
          <a:ln w="1270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1508760"/>
            <a:ext cx="10362895" cy="548640"/>
          </a:xfrm>
          <a:prstGeom prst="rect">
            <a:avLst/>
          </a:prstGeom>
          <a:noFill/>
        </p:spPr>
        <p:txBody>
          <a:bodyPr wrap="none">
            <a:spAutoFit/>
          </a:bodyPr>
          <a:lstStyle/>
          <a:p>
            <a:pPr>
              <a:defRPr sz="1300" b="1">
                <a:solidFill>
                  <a:srgbClr val="0F766E"/>
                </a:solidFill>
                <a:latin typeface="Arial"/>
              </a:defRPr>
            </a:pPr>
            <a:r>
              <a:t>MỨC ĐỘ HOÀN THÀNH: HOÀN TOÀN ĐẠT 100% MỤC TIÊU ĐỀ RA BAN ĐẦU</a:t>
            </a:r>
          </a:p>
        </p:txBody>
      </p:sp>
      <p:sp>
        <p:nvSpPr>
          <p:cNvPr id="9" name="Rounded Rectangle 8"/>
          <p:cNvSpPr/>
          <p:nvPr/>
        </p:nvSpPr>
        <p:spPr>
          <a:xfrm>
            <a:off x="731520" y="2286000"/>
            <a:ext cx="10728655" cy="8229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731520" y="2286000"/>
            <a:ext cx="91440" cy="822960"/>
          </a:xfrm>
          <a:prstGeom prst="rect">
            <a:avLst/>
          </a:prstGeom>
          <a:solidFill>
            <a:srgbClr val="E356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05840" y="2359152"/>
            <a:ext cx="10241280" cy="685800"/>
          </a:xfrm>
          <a:prstGeom prst="rect">
            <a:avLst/>
          </a:prstGeom>
          <a:noFill/>
        </p:spPr>
        <p:txBody>
          <a:bodyPr wrap="square" lIns="0" tIns="0" rIns="0" bIns="0">
            <a:spAutoFit/>
          </a:bodyPr>
          <a:lstStyle/>
          <a:p>
            <a:pPr>
              <a:defRPr sz="1200" b="1">
                <a:solidFill>
                  <a:srgbClr val="0F172A"/>
                </a:solidFill>
                <a:latin typeface="Arial"/>
              </a:defRPr>
            </a:pPr>
            <a:r>
              <a:t>1. Kiến trúc Chuẩn mực Công nghiệp</a:t>
            </a:r>
          </a:p>
          <a:p>
            <a:pPr>
              <a:spcBef>
                <a:spcPts val="200"/>
              </a:spcBef>
              <a:defRPr sz="1000">
                <a:solidFill>
                  <a:srgbClr val="64748B"/>
                </a:solidFill>
                <a:latin typeface="Arial"/>
              </a:defRPr>
            </a:pPr>
            <a:r>
              <a:t>Ứng dụng tuân thủ triệt để MVVM kết hợp Unidirectional Data Flow (UDF), phân tách rõ ràng Presentation Layer và Data Layer, sử dụng Manual DI qua AppContainer dễ dàng mở rộng và bảo trì.</a:t>
            </a:r>
          </a:p>
        </p:txBody>
      </p:sp>
      <p:sp>
        <p:nvSpPr>
          <p:cNvPr id="12" name="Rounded Rectangle 11"/>
          <p:cNvSpPr/>
          <p:nvPr/>
        </p:nvSpPr>
        <p:spPr>
          <a:xfrm>
            <a:off x="731520" y="3200400"/>
            <a:ext cx="10728655" cy="8229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731520" y="3200400"/>
            <a:ext cx="91440" cy="82296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005840" y="3273552"/>
            <a:ext cx="10241280" cy="685800"/>
          </a:xfrm>
          <a:prstGeom prst="rect">
            <a:avLst/>
          </a:prstGeom>
          <a:noFill/>
        </p:spPr>
        <p:txBody>
          <a:bodyPr wrap="square" lIns="0" tIns="0" rIns="0" bIns="0">
            <a:spAutoFit/>
          </a:bodyPr>
          <a:lstStyle/>
          <a:p>
            <a:pPr>
              <a:defRPr sz="1200" b="1">
                <a:solidFill>
                  <a:srgbClr val="0F172A"/>
                </a:solidFill>
                <a:latin typeface="Arial"/>
              </a:defRPr>
            </a:pPr>
            <a:r>
              <a:t>2. Triết lý Vận hành Offline-First</a:t>
            </a:r>
          </a:p>
          <a:p>
            <a:pPr>
              <a:spcBef>
                <a:spcPts val="200"/>
              </a:spcBef>
              <a:defRPr sz="1000">
                <a:solidFill>
                  <a:srgbClr val="64748B"/>
                </a:solidFill>
                <a:latin typeface="Arial"/>
              </a:defRPr>
            </a:pPr>
            <a:r>
              <a:t>Toàn bộ chức năng cốt lõi (CRUD công thức, quản lý tủ lạnh, tra cứu, lịch sử nấu) hoạt động 100% độc lập không cần mạng, mang đến trải nghiệm bền bỉ và không gián đoạn.</a:t>
            </a:r>
          </a:p>
        </p:txBody>
      </p:sp>
      <p:sp>
        <p:nvSpPr>
          <p:cNvPr id="15" name="Rounded Rectangle 14"/>
          <p:cNvSpPr/>
          <p:nvPr/>
        </p:nvSpPr>
        <p:spPr>
          <a:xfrm>
            <a:off x="731520" y="4114800"/>
            <a:ext cx="10728655" cy="8229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731520" y="4114800"/>
            <a:ext cx="91440" cy="82296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005840" y="4187952"/>
            <a:ext cx="10241280" cy="685800"/>
          </a:xfrm>
          <a:prstGeom prst="rect">
            <a:avLst/>
          </a:prstGeom>
          <a:noFill/>
        </p:spPr>
        <p:txBody>
          <a:bodyPr wrap="square" lIns="0" tIns="0" rIns="0" bIns="0">
            <a:spAutoFit/>
          </a:bodyPr>
          <a:lstStyle/>
          <a:p>
            <a:pPr>
              <a:defRPr sz="1200" b="1">
                <a:solidFill>
                  <a:srgbClr val="0F172A"/>
                </a:solidFill>
                <a:latin typeface="Arial"/>
              </a:defRPr>
            </a:pPr>
            <a:r>
              <a:t>3. Trí tuệ Nhân tạo Thông minh &amp; An toàn</a:t>
            </a:r>
          </a:p>
          <a:p>
            <a:pPr>
              <a:spcBef>
                <a:spcPts val="200"/>
              </a:spcBef>
              <a:defRPr sz="1000">
                <a:solidFill>
                  <a:srgbClr val="64748B"/>
                </a:solidFill>
                <a:latin typeface="Arial"/>
              </a:defRPr>
            </a:pPr>
            <a:r>
              <a:t>Tích hợp linh hoạt 4 nhà cung cấp AI hàng đầu thế giới (OpenAI, Anthropic Claude, Gemini) cùng cơ chế mã hóa API Key quân đội AES-256 GCM và thuật toán gợi ý ngoại tuyến RuleBasedAi.</a:t>
            </a:r>
          </a:p>
        </p:txBody>
      </p:sp>
      <p:sp>
        <p:nvSpPr>
          <p:cNvPr id="18" name="Rounded Rectangle 17"/>
          <p:cNvSpPr/>
          <p:nvPr/>
        </p:nvSpPr>
        <p:spPr>
          <a:xfrm>
            <a:off x="731520" y="5029200"/>
            <a:ext cx="10728655" cy="8229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731520" y="5029200"/>
            <a:ext cx="91440" cy="8229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005840" y="5102352"/>
            <a:ext cx="10241280" cy="685800"/>
          </a:xfrm>
          <a:prstGeom prst="rect">
            <a:avLst/>
          </a:prstGeom>
          <a:noFill/>
        </p:spPr>
        <p:txBody>
          <a:bodyPr wrap="square" lIns="0" tIns="0" rIns="0" bIns="0">
            <a:spAutoFit/>
          </a:bodyPr>
          <a:lstStyle/>
          <a:p>
            <a:pPr>
              <a:defRPr sz="1200" b="1">
                <a:solidFill>
                  <a:srgbClr val="0F172A"/>
                </a:solidFill>
                <a:latin typeface="Arial"/>
              </a:defRPr>
            </a:pPr>
            <a:r>
              <a:t>4. Độ tin cậy &amp; Kiểm thử Tự động Tuyệt đối</a:t>
            </a:r>
          </a:p>
          <a:p>
            <a:pPr>
              <a:spcBef>
                <a:spcPts val="200"/>
              </a:spcBef>
              <a:defRPr sz="1000">
                <a:solidFill>
                  <a:srgbClr val="64748B"/>
                </a:solidFill>
                <a:latin typeface="Arial"/>
              </a:defRPr>
            </a:pPr>
            <a:r>
              <a:t>Xây dựng hạ tầng kiểm thử độc lập 100% JVM Test Pass với hơn 100 bài test (Turbine, MockK, MainDispatcherRule, Adversarial Tests và Source-parsing tests).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TotalTime>
  <Words>3396</Words>
  <Application>Microsoft Office PowerPoint</Application>
  <PresentationFormat>Widescreen</PresentationFormat>
  <Paragraphs>242</Paragraphs>
  <Slides>13</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Kẹo Gấu</cp:lastModifiedBy>
  <cp:revision>2</cp:revision>
  <dcterms:created xsi:type="dcterms:W3CDTF">2013-01-27T09:14:16Z</dcterms:created>
  <dcterms:modified xsi:type="dcterms:W3CDTF">2026-09-16T02:16:51Z</dcterms:modified>
  <cp:category/>
</cp:coreProperties>
</file>