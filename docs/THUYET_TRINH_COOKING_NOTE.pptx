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93C5FD"/>
                </a:solidFill>
              </a:defRPr>
            </a:pPr>
            <a:r>
              <a:t>TRƯỜNG CAO ĐẲNG KỸ THUẬT – CÔNG NGHỆ BÁCH KHOA</a:t>
            </a:r>
            <a:br/>
            <a:r>
              <a:t>KHOA CÔNG NGHỆ THÔNG TIN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BÁO CÁO ĐỒ ÁN MÔN HỌC: PHÁT TRIỂN ỨNG DỤNG DI ĐỘNG</a:t>
            </a:r>
          </a:p>
          <a:p>
            <a:pPr algn="ctr"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COOKING NOTE — SỔ TAY NẤU ĂN THÔNG MINH</a:t>
            </a:r>
          </a:p>
          <a:p>
            <a:pPr algn="ctr">
              <a:defRPr sz="1400" i="1">
                <a:solidFill>
                  <a:srgbClr val="E2E8F0"/>
                </a:solidFill>
              </a:defRPr>
            </a:pPr>
            <a:r>
              <a:t>Ứng dụng ghi chép công thức ẩm thực, quản lý tủ lạnh thông minh &amp; trợ lý AI hỗ trợ đa nhà cung cấp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520440"/>
            <a:ext cx="8899855" cy="2651760"/>
          </a:xfrm>
          <a:prstGeom prst="roundRect">
            <a:avLst/>
          </a:prstGeom>
          <a:solidFill>
            <a:srgbClr val="0F2D4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3657600"/>
            <a:ext cx="8351215" cy="148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  </a:t>
            </a:r>
            <a:r>
              <a:rPr dirty="0" err="1"/>
              <a:t>ThS</a:t>
            </a:r>
            <a:r>
              <a:rPr dirty="0"/>
              <a:t>. Lê Văn Quân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— </a:t>
            </a:r>
            <a:r>
              <a:rPr dirty="0" err="1"/>
              <a:t>Lớp</a:t>
            </a:r>
            <a:r>
              <a:rPr dirty="0"/>
              <a:t> TT602-K16LT:</a:t>
            </a:r>
          </a:p>
          <a:p>
            <a:pPr>
              <a:spcAft>
                <a:spcPts val="400"/>
              </a:spcAft>
              <a:defRPr sz="1350">
                <a:solidFill>
                  <a:srgbClr val="F1F5F9"/>
                </a:solidFill>
              </a:defRPr>
            </a:pPr>
            <a:r>
              <a:rPr dirty="0"/>
              <a:t>1. Vũ </a:t>
            </a:r>
            <a:r>
              <a:rPr dirty="0" err="1"/>
              <a:t>Đình</a:t>
            </a:r>
            <a:r>
              <a:rPr dirty="0"/>
              <a:t> </a:t>
            </a:r>
            <a:r>
              <a:rPr dirty="0" err="1"/>
              <a:t>Đạo</a:t>
            </a:r>
            <a:r>
              <a:rPr dirty="0"/>
              <a:t> </a:t>
            </a:r>
            <a:r>
              <a:rPr lang="en-US" dirty="0"/>
              <a:t>		</a:t>
            </a:r>
            <a:r>
              <a:rPr dirty="0"/>
              <a:t>                      2. Ngô Gia Bảo</a:t>
            </a:r>
            <a:r>
              <a:rPr lang="vi-VN" dirty="0"/>
              <a:t> (Nhóm trưởng) </a:t>
            </a:r>
            <a:endParaRPr dirty="0"/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</a:defRPr>
            </a:pPr>
            <a:r>
              <a:rPr dirty="0"/>
              <a:t>3. Nguyễn Tiến Dũng                                4. Lê Đức </a:t>
            </a:r>
            <a:r>
              <a:rPr dirty="0" err="1"/>
              <a:t>Trọng</a:t>
            </a:r>
            <a:endParaRPr dirty="0"/>
          </a:p>
          <a:p>
            <a:pPr>
              <a:defRPr sz="1150">
                <a:solidFill>
                  <a:srgbClr val="93C5FD"/>
                </a:solidFill>
              </a:defRPr>
            </a:pPr>
            <a:r>
              <a:rPr dirty="0"/>
              <a:t>✦ Kotlin 2.0  ✦ Jetpack Compose M3  ✦ Room Database v3  ✦ MVVM + UDF  ✦ 100% Offline-First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1: ĐẶT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1. Lý do chọn đề tài &amp; Thách thức thực tiễn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THỰC TRẠNG &amp; NHU CẦU</a:t>
            </a:r>
          </a:p>
          <a:p>
            <a:pPr>
              <a:spcAft>
                <a:spcPts val="600"/>
              </a:spcAft>
              <a:defRPr sz="1350" b="1">
                <a:solidFill>
                  <a:srgbClr val="E65100"/>
                </a:solidFill>
              </a:defRPr>
            </a:pPr>
            <a:r>
              <a:t>VẤN ĐỀ CỦA NGƯỜI NỘI TRỢ HIỆN ĐẠI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Áp lực thực đơn hàng ngày: Câu hỏi đắn đo hôm nay ăn gì gây mất nhiều thời gian, lặp món nhàm chán.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Lãng phí nguyên liệu trong bếp: Thực phẩm mua về tích trữ trong tủ lạnh dễ bị quên lãng, quá hạn sử dụng gây lãng phí kinh tế.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Mất mạng khi đang nấu ăn: Gian bếp hoặc tầng hầm thường có sóng Wi-Fi/4G yếu; các ứng dụng đám mây bị gián đoạn tra cứu.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Bất tiện từ ứng dụng hiện tại: Tràn ngập quảng cáo video, thao tác phức tạp, thiếu tính năng ghi chú khẩu vị riêng của gia đình.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GIẢI PHÁP ĐỀ XUẤT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GIẢI PHÁP ĐỘT PHÁ CỦA COOKING NOTE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Kiến trúc Offline-First thực thụ: Toàn bộ công thức lưu trữ 100% cục bộ bằng SQLite Room; mở app tra cứu tức thì không cần Internet.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Quản lý Tủ lạnh thông minh (Pantry): Kiểm kê số lượng, hạn dùng và tự động gắn nhãn cảnh báo đỏ với nguyên liệu sắp hết.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Trợ lý AI đa nhà cung cấp: Gợi ý món ăn thông minh bằng cách tự động nạp danh sách thực phẩm trong tủ lạnh vào ngữ cảnh chat.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Thuật toán Fail-Safe ngoại tuyến (RuleBasedAi): Vẫn đưa ra gợi ý nấu ăn chuẩn xác theo nguyên liệu ngay cả khi mất mạng hoặc không có API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1: ĐẶT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2. Mục tiêu nghiên cứu &amp; Phạm vi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2880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TÍNH NĂNG CỐT LÕI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🎯 Mục tiêu Chức năng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Quản lý trọn vẹn vòng đời công thức ẩm thực: CRUD món ăn, định lượng nguyên liệu, các bước nấu đánh số kèm mẹo.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Quản lý kho tủ lạnh (Pantry): Theo dõi tồn kho thực tế, cảnh báo chạm ngưỡng đỏ lowStockThreshold.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Trợ lý AI thông minh: Tích hợp 4 cổng API Cloud LLM và bộ quy tắc luật cục bộ RuleBasedAi.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Tìm kiếm tức thì: Lọc món ăn nhanh với kỹ thuật Debounce 300ms chống giật 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645920"/>
            <a:ext cx="2880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TIÊU CHUẨN KỸ THUẬT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⚡ Mục tiêu Kỹ thuật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Hiện đại hóa 100% giao diện bằng Jetpack Compose Material 3, loại bỏ hoàn toàn XML.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Tuân thủ nghiêm ngặt mô hình MVVM + Unidirectional Data Flow (UDF) chuẩn Google.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Bảo mật khóa API cấp quân đội bằng EncryptedSharedPreferences (AES-256-GCM Keystore).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Đảm bảo chất lượng tuyệt đối: Đạt tỷ lệ 135/135 Unit Test tự động vượt qua 100% trên JVM.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645920"/>
            <a:ext cx="2880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RANH GIỚI TRIỂN KHAI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📍 Phạm vi &amp; Đối tượng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Đối tượng người dùng: Người nội trợ gia đình, sinh viên sống tự lập, người đam mê nấu ăn tại nhà.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Nền tảng hỗ trợ: Hệ điều hành Android (hỗ trợ từ Android 8.0 Oreo đến Android 15, compileSdk 35).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Phạm vi lưu trữ: CSDL nội bộ SQLite Room, hỗ trợ sao lưu và phục hồi dữ liệu an toàn ra tệp.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Mô hình AI kép: Vừa hỗ trợ Cloud LLM linh hoạt, vừa hoạt động ngoại tuyến an toàn dữ liệu.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2: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3. Phân tích yêu cầu chức năng (5 Phân hệ chính)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CRUD &amp; TƯƠNG TÁC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Phân hệ 1: Quản lý Công thức (Recipe)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Duyệt, xem chi tiết món ăn với hình ảnh, thời gian nấu, khẩu phần và độ khó.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Định lượng nguyên liệu chi tiết, các bước nấu đánh số kèm mẹo thực hiện (Tips).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Tạo mới, chỉnh sửa món ăn; đánh dấu Yêu thích (Favorites) và lịch sử đã nấu.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KHO THỰC PHẨM THÔNG MINH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Phân hệ 2: Quản lý Tủ lạnh (Pantry)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Kiểm kê danh sách thực phẩm trong bếp kèm số lượng và đơn vị đo linh hoạt.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Tự động tính toán và gắn nhãn cảnh báo đỏ đối với nguyên liệu sắp hết hàng.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Kết nối dữ liệu trực tiếp với AI để gợi ý món ăn có thể nấu ngay từ đồ sẵn có.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375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8803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MULTI-PROVIDER &amp; OFFLINE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Phân hệ 3: Trợ lý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Chatbot ẩm thực nạp ngữ cảnh tủ lạnh + món yêu thích vào System Prompt.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Hỗ trợ 4 Cloud Providers (OpenAI, Gemini, Claude, DeepSeek).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Cơ chế dự phòng RuleBasedAi hoạt động 100% khi mất mạng.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31920"/>
            <a:ext cx="33375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6" y="4114800"/>
            <a:ext cx="28803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TRUY VẤN TỨC THÌ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Phân hệ 4: Tìm kiếm &amp; Lọc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Thanh tìm kiếm phản ứng nhanh tích hợp Debounce 300ms chống giật lag.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Tìm kiếm đa trường: Theo tên món, mô tả và tên nguyên liệu thành phần.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Lọc nhanh công thức theo danh mục món ăn (Canh, mặn, xào, chay...).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931920"/>
            <a:ext cx="33375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4114800"/>
            <a:ext cx="28803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QUẢN TRỊ &amp; AN TOÀN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Phân hệ 5: Cài đặt &amp; Sao lưu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Chuyển đổi Provider, Model ID, cấu hình Endpoint URL và nạp Remote Config.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Bảo mật khóa API bằng Keystore AES-256-GCM an toàn cấp quân đội.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Sao lưu / Phục hồi cơ sở dữ liệu SQLite Room bất đồng bộ qua FileProvider.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2: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4. Yêu cầu phi chức năng, Hiệu năng &amp;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HIỆU NĂNG &amp; TÀI NGUYÊN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⚡ TỐI ƯU HÓA HIỆU NĂNG &amp; TRẢI NGHIỆM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Thời gian khởi động ứng dụng (Cold Start): Đạt dưới 1.5 giây; chuyển đổi giữa các màn hình duy trì chuẩn 60fps mượt mà.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Kỹ thuật Debounce 300ms: Khi người dùng gõ tìm kiếm, hệ thống chỉ kích hoạt truy vấn sau khi ngừng gõ 300ms, giảm hơn 85% số lượt đọc đĩa DB không cần thiết.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Xử lý đa luồng bất đồng bộ: 100% tác vụ I/O đĩa (Room Database) và gọi mạng AI chạy trên luồng nền Dispatchers.IO, triệt tiêu hoàn toàn hiện tượng nghẽn UI Thread.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Đồ họa Vector tối ưu hiệu năng: Sử dụng Material Icons và Vector Graphics dựng sẵn, giảm 100% chi phí I/O mạng và ngăn ngừa tràn bộ nhớ RAM (OOM) trên thiết bị cấu hình thấp.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BẢO MẬT &amp; TOÀN VẸN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🔒 AN TOÀN THÔNG TIN &amp; TOÀN VẸN DỮ LIỆU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Bảo mật khóa bí mật API: Sử dụng Jetpack Security EncryptedSharedPreferences với thuật toán mã hóa khóa đối xứng AES-256-GCM, quản lý bởi phần cứng Android Keystore.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Xác thực phiên làm việc an toàn: Quy trình đăng nhập/đăng ký giao tiếp qua REST backend (api/v1/auth); xác thực mật khẩu diễn ra phía máy chủ, client không lưu mật khẩu thô.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Toàn vẹn sao lưu CSDL (SQLite WAL): Khi thực hiện xuất file backup, hệ thống thực hiện checkpoint WAL nhằm đảm bảo dữ liệu ghi gần nhất được đồng bộ hoàn toàn ra đĩa.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Tính sẵn sàng cao (High Availability): 100% chức năng xem, thêm, sửa, quản lý tủ lạnh và tìm kiếm hoạt động ổn định khi offline, loại bỏ điểm nghẽn phụ thuộc mạng.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2: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5. Thiết kế Cơ sở Dữ liệu Room (10 Bảng &amp; 9 DAOs)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QUẢN LÝ CÔNG THỨC &amp; TỦ LẠNH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NHÓM THỰC THỂ CỐT LÕI (5 BẢNG)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recipes: Bảng món ăn chính (id PK, title, description, prepTime, cookTime, servings, difficulty, categoryId FK, isFavorite).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ingredients: Nguyên liệu món ăn (id PK, recipeId FK CASCADE, name, amount, unit).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steps: Các bước thực hiện (id PK, recipeId FK CASCADE, stepNumber, instruction, tip).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categories: Danh mục ẩm thực (id PK, name, iconRes, colorHex).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pantry_items: Kho thực phẩm tủ lạnh (id PK, name, quantity, unit, lowStockThreshold, expiryDate).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MỞ RỘNG &amp; TRÍ TUỆ NHÂN TẠO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NHÓM QUAN HỆ, LỊCH SỬ &amp; AI (5 BẢNG)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tags: Nhãn ẩm thực phân loại (id PK, name - ví dụ: #ĂnChay, #Nhanh, #MónCay).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recipe_tag_cross_ref: Bảng liên kết trung gian (recipeId, tagId) thiết kế quan hệ N-N.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cook_history: Nhật ký nấu nướng gia đình (id PK, recipeId FK, cookedAt, rating, notes).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chat_messages: Lưu trữ toàn bộ lịch sử hội thoại với trợ lý AI (id PK, role, content, timestamp).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ai_query_logs: Nhật ký giám sát chất lượng AI (id PK, provider, model, latencyMs, isSuccess).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6655"/>
                </a:solidFill>
              </a:defRPr>
            </a:pPr>
            <a:r>
              <a:t>✦ ĐIỂM SÁNG THIẾT KẾ CƠ SỞ DỮ LIỆU ROOM DATABASE V3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• Ràng buộc Foreign Keys ON DELETE CASCADE tự động dọn sạch nguyên liệu và các bước khi xóa công thức, chống dữ liệu rác.</a:t>
            </a:r>
            <a:br/>
            <a:r>
              <a:t>• Đánh chỉ mục Index trên cột title và ingredients giúp câu lệnh truy vấn tìm kiếm SQL LIKE phản hồi tức thì dưới 20ms.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3: CÀI ĐẶT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6. Kiến trúc Phần mềm MVVM &amp; Luồng Dữ liệu Một Chiều (UDF)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375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28803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GIAO DIỆN THUẦN KHIẾT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🎨 Tầng Giao diện (UI)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100% Jetpack Compose khai báo (Stateless Content + Stateful Screen).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Nhận duy nhất một đối tượng UiState bất biến (Immutable State).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Mọi tương tác chạm phát sự kiện onAction ngược lên ViewModel.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Triệt tiêu 100% việc gọi trực tiếp Database hay Network từ Composable.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375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645920"/>
            <a:ext cx="28803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XỬ LÝ NGHIỆP VỤ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🧠 Tầng ViewModel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Quản lý 10 ViewModel độc lập tương ứng với các phân hệ màn hình.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Tiếp nhận Event từ UI, thực thi logic nghiệp vụ qua Coroutine viewModelScope.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Phát dữ liệu phản ứng qua StateFlow với cấu hình an toàn WhileSubscribed.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Thu thập dữ liệu an toàn với collectAsStateWithLifecycle() chống rò rỉ.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375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645920"/>
            <a:ext cx="28803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NGUỒN CHÂN LÝ DỮ LIỆU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💾 Tầng Dữ liệu (Data)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CookbookRepository đóng vai trò Single Source of Truth duy nhất.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Điều phối truy vấn bất đồng bộ giữa 9 Room DAOs và AI Subsystem.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Chuyển đổi dữ liệu Entity nội bộ sang Domain Model sạch cho ViewModel.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Hỗ trợ giao dịch Room Transaction đảm bảo dữ liệu nguyên tử (ACID).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100"/>
                </a:solidFill>
              </a:defRPr>
            </a:pPr>
            <a:r>
              <a:t>✦ MANUAL DEPENDENCY INJECTION: KHÔNG HILT / KOIN CỒNG KỀNH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• AppContainer khởi tạo tập trung toàn bộ Database, Repository và AiService từ CookingNoteApp.</a:t>
            </a:r>
            <a:br/>
            <a:r>
              <a:t>• AppViewModelFactory cung cấp ViewModel sạch sẽ, giúp 100% các lớp Unit Test có thể chạy trực tiếp trên máy ảo JVM với tốc độ vượt trội mà không cần giả lập Android.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3: CÀI ĐẶT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7. Công nghệ &amp; Thư viện Sử dụng (Tech Stack)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CORE PLATFORM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📱 Ngôn ngữ &amp; Nền tảng Core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Kotlin 2.0.21: Sử dụng Coroutines 1.9.0, StateFlow và SharedFlow xử lý phản ứng bất đồng bộ.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Target SDK 35 (Android 15), Min SDK 26 (Android 8.0 Oreo), JVM Target 17.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Gradle Wrapper 9.3.0 với catalog gradle/libs.versions.toml quản lý thư viện tập trung.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DECLARATIVE UI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🎨 Giao diện &amp; Đồ họa (UI/UX)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Jetpack Compose (BOM 2024.12.01) + Material 3 Design: Hỗ trợ Light &amp; Dark Theme mượt mà.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Navigation Compose: Quản lý điều hướng an toàn tham số với sealed class Route.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Material Icons &amp; Vector Graphics: Hệ thống biểu tượng vector Material 3 tối ưu hóa render, hiển thị sắc nét trên mọi độ phân giải màn hình.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19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LOCAL STORAGE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🗄️ Cơ sở Dữ liệu &amp; Lưu trữ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Room Database 2.6.1 + KSP: Kiểm tra tính đúng đắn của SQL ngay lúc biên dịch (Compile-time).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EncryptedSharedPreferences (Jetpack Security Tink): Mã hóa khóa API cấp quân đội AES-256-GCM.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DataStore Preferences: Lưu trữ tùy biến cấu hình giao diện và tùy chọn người dùng.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19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NETWORK &amp; QUALITY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🌐 Mạng &amp; Bộ công cụ Kiểm thử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OkHttp 4.12.0 + Moshi 1.15.1: Xử lý kết nối REST API và đa cổng dịch vụ AI (OpenAI, Gemini, Claude).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Hạ tầng Unit Test: JUnit 4, MockK 1.13.13, Turbine 1.2.0, Coroutines-Test chạy độc lập trên JVM.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Chuyển đổi Base64 chuẩn java.util.Base64 tương thích 100% môi trường kiểm thử máy chủ.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4: DEMO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8. Trải nghiệm Thực tế: Trang chủ &amp; Thư viện Công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09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Màn hình Trang chủ</a:t>
            </a:r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7088"/>
            <a:ext cx="1975104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15468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Thư viện Công thức</a:t>
            </a:r>
          </a:p>
        </p:txBody>
      </p:sp>
      <p:pic>
        <p:nvPicPr>
          <p:cNvPr id="13" name="Picture 12" descr="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847088"/>
            <a:ext cx="1975104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146304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64592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TỔNG QUAN &amp; KHÁM PHÁ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ĐIỂM NỔI BẬT: TRANG CHỦ (HOME SCREEN)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Hiển thị lời chào cá nhân hóa theo thời gian trong ngày (Sáng, Trưa, Tối).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Gợi ý nhanh món ăn hôm nay dựa trên khẩu vị và thực đơn thịnh hành.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Bộ sưu tập món ăn mới nhất và danh sách phân loại ẩm thực trực quan sinh động.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Lối tắt nhanh dẫn thẳng tới trợ lý AI gợi ý món và kiểm tra kho tủ lạnh.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3192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411480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QUẢN LÝ BỘ SƯU TẬP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ĐIỂM NỔI BẬT: THƯ VIỆN CÔNG THỨC (LIBRARY)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Hiển thị danh sách công thức dạng lưới 2 cột hiện đại, tối ưu không gian hiển thị.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Thẻ món ăn thể hiện đầy đủ: Ảnh đại diện, tên món, thời gian nấu và độ khó.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Bộ lọc nhanh theo danh mục (Món chính, Canh, Ăn vặt, Đồ uống, Món chay...).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Tương tác chạm một chạm để bật/tắt yêu thích (Favorite) cập nhật tức thì.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4: DEMO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9. Trải nghiệm Thực tế: Chi tiết Món &amp; Biên tập Công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Chi tiết Món ăn</a:t>
            </a:r>
          </a:p>
        </p:txBody>
      </p:sp>
      <p:pic>
        <p:nvPicPr>
          <p:cNvPr id="10" name="Picture 9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7088"/>
            <a:ext cx="1975104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15468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Tạo mới &amp; Biên tập</a:t>
            </a:r>
          </a:p>
        </p:txBody>
      </p:sp>
      <p:pic>
        <p:nvPicPr>
          <p:cNvPr id="13" name="Picture 12" descr="create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847088"/>
            <a:ext cx="1975104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146304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64592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HƯỚNG DẪN NẤU NƯỚNG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ĐIỂM NỔI BẬT: CHI TIẾT CÔNG THỨC (RECIPE DETAIL)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Bố cục hình ảnh Hero tràn viền kết hợp thông số: Thời gian chuẩn bị, nấu, khẩu phần.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Danh sách nguyên liệu định lượng chi tiết kèm đơn vị đo lường trực quan.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Các bước thực hiện được đánh số thứ tự rõ ràng kèm mẹo vặt nấu nướng thực tế.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Nút bắt đầu nấu ghi nhận thời gian và tự động lưu vào bảng lịch sử cook_history.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3192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411480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SÁNG TẠO ẨM THỰC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ĐIỂM NỔI BẬT: TẠO MỚI &amp; CHỈNH SỬA (RECIPE EDITOR)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Trình biên tập thống nhất dùng chung cho cả tính năng Tạo mới và Chỉnh sửa.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Cơ chế validation đầu vào chặt chẽ: Ngăn chặn lưu công thức rỗng hoặc sai định dạng.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Thêm bớt nguyên liệu và các bước hướng dẫn động một cách mượt mà và trực quan.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Lưu trữ cục bộ nguyên tử (Atomic Room Transaction), đảm bảo dữ liệu không bị thất thoát.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4: DEMO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10. Trải nghiệm Thực tế: Quản lý Tủ lạnh &amp; Tìm kiếm Debounce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Quản lý Tủ lạnh</a:t>
            </a:r>
          </a:p>
        </p:txBody>
      </p:sp>
      <p:pic>
        <p:nvPicPr>
          <p:cNvPr id="10" name="Picture 9" descr="pa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7088"/>
            <a:ext cx="1975104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15468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Tìm kiếm Tức thì</a:t>
            </a:r>
          </a:p>
        </p:txBody>
      </p:sp>
      <p:pic>
        <p:nvPicPr>
          <p:cNvPr id="13" name="Picture 1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847088"/>
            <a:ext cx="1975104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146304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64592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KIỂM SOÁT KHO BẾP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ĐIỂM NỔI BẬT: QUẢN LÝ TỦ LẠNH (PANTRY MANAGER)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Kiểm soát số lượng tồn kho nguyên liệu trong gian bếp theo thời gian thực.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Cảnh báo thông minh: Tự động đánh dấu màu đỏ khi số lượng chạm ngưỡng lowStockThreshold.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Hỗ trợ phân loại nhóm thực phẩm: Thịt cá, rau củ, gia vị, đồ hộp khô.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Nút kích hoạt gợi ý món ngay từ tủ lạnh chuyển tiếp sang trợ lý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3192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411480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TRUY VẤN THÔNG MINH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ĐIỂM NỔI BẬT: TÌM KIẾM ĐA NĂNG (SMART SEARCH)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Tích hợp toán tử phản ứng Debounce 300ms chống giật lag và giảm tải bộ nhớ.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Khả năng tìm kiếm linh hoạt: Tra cứu theo tên món ăn, mô tả hoặc tên nguyên liệu thành phần.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Hiển thị trạng thái rỗng (Empty State) thân thiện kèm gợi ý món nổi bật khi không có kết quả.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Lọc kết quả kết hợp đa tiêu chí: Lọc theo danh mục, thời gian nấu và độ khó.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4: DEMO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11. Trải nghiệm Thực tế: Trợ lý Ẩm thực AI &amp; Cài đặt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Trợ lý Ẩm thực AI</a:t>
            </a:r>
          </a:p>
        </p:txBody>
      </p:sp>
      <p:pic>
        <p:nvPicPr>
          <p:cNvPr id="10" name="Picture 9" descr="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7088"/>
            <a:ext cx="1975104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154680" y="146304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1B4F72"/>
                </a:solidFill>
              </a:defRPr>
            </a:pPr>
            <a:r>
              <a:t>Cài đặt &amp; Bảo mật</a:t>
            </a:r>
          </a:p>
        </p:txBody>
      </p:sp>
      <p:pic>
        <p:nvPicPr>
          <p:cNvPr id="13" name="Picture 12" descr="setting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847088"/>
            <a:ext cx="1975104" cy="42793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146304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64592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HỘI THOẠI THÔNG MINH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ĐIỂM NỔI BẬT: TRỢ LÝ ẨM THỰC AI (AI ASSISTANT)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Khởi tạo hội thoại theo thời gian thực với định dạng bong bóng chat hiện đại.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Tự động nạp danh sách đồ trong tủ lạnh và món yêu thích vào ngữ cảnh câu hỏi.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Đề xuất công thức chi tiết, hướng dẫn sơ chế và các giải pháp thay thế gia vị.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Cơ chế Fail-Safe: Tự động chuyển sang RuleBasedAi khi mất mạng, không gây lỗi giao diện.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31920"/>
            <a:ext cx="57908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4114800"/>
            <a:ext cx="53336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AN TOÀN &amp; CẤU HÌNH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ĐIỂM NỔI BẬT: CÀI ĐẶT &amp; BẢO MẬT (SETTINGS &amp; SECURITY)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Tùy chọn linh hoạt 4 nhà cung cấp AI: OpenAI, Google Gemini, Claude, DeepSeek.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Khóa API được mã hóa an toàn bằng AES-256-GCM qua Android Keystore phần cứng.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Hỗ trợ cấu hình đám mây từ xa (AiRemoteConfig) nạp endpoint mà không cần sửa code.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Trung tâm sao lưu và khôi phục CSDL an toàn kèm cơ chế đồng bộ checkpoint WAL.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5: 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12. Đảm bảo Chất lượng &amp; Kiểm thử Tự động (135/135 Tests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572768"/>
            <a:ext cx="22494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135 / 135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B4F72"/>
                </a:solidFill>
              </a:defRPr>
            </a:pPr>
            <a:r>
              <a:t>Unit Tests Vượt Qua</a:t>
            </a:r>
          </a:p>
          <a:p>
            <a:pPr algn="ctr"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Tỷ lệ đạt 100% tuyệt đối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572768"/>
            <a:ext cx="22494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23 Files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B4F72"/>
                </a:solidFill>
              </a:defRPr>
            </a:pPr>
            <a:r>
              <a:t>Tệp Kiểm Thử Độc Lập</a:t>
            </a:r>
          </a:p>
          <a:p>
            <a:pPr algn="ctr"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Bao phủ toàn diện các tầng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572768"/>
            <a:ext cx="22494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0 ms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B4F72"/>
                </a:solidFill>
              </a:defRPr>
            </a:pPr>
            <a:r>
              <a:t>Độ trễ Giả lập Emulator</a:t>
            </a:r>
          </a:p>
          <a:p>
            <a:pPr algn="ctr"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Thực thi trực tiếp trên máy ảo JVM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99055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0848" y="1572768"/>
            <a:ext cx="2279599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1B4F72"/>
                </a:solidFill>
              </a:defRPr>
            </a:pPr>
            <a:r>
              <a:t>Tuân thủ Kiến trúc MVVM</a:t>
            </a:r>
          </a:p>
          <a:p>
            <a:pPr algn="ctr"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Bộ test kiến trúc tự động giám sát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089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BẢO ĐẢM CHẤT LƯỢNG MÃ NGUỒN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t>CHIẾN LƯỢC KIỂM THỬ ĐƠN VỊ ĐA TẦNG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Tầng ViewModel (Turbine &amp; MockK): Kiểm thử hành vi phát StateFlow, xử lý luồng sự kiện UI và trạng thái tải dữ liệu Loading / Success / Error.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Tầng Dữ liệu (Room In-Memory DB): Kiểm thử các câu lệnh DAO, ràng buộc khóa ngoại Foreign Keys và logic giao dịch nguyên tử.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Tầng AI Subsystem: Kiểm định bộ quy tắc ngoại tuyến RuleBasedAi, xác thực ngữ cảnh tủ lạnh và kiểm thử phân tích JSON kết quả.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Tương thích môi trường JVM: Sử dụng java.util.Base64 và Test Dispatcher, giúp toàn bộ 135 test chạy hoàn tất chỉ trong vài giây.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BẢO VỆ TOÀN VẸN KIẾN TRÚC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KIỂM TRA KIẾN TRÚC &amp; ADVERSARIAL TESTS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Milestone3ArchitectureConformanceTest: Bộ kiểm tra tự động quét mã nguồn bằng regex để đảm bảo 100% màn hình tuân thủ quy tắc Stateless Content.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Milestone3ChallengerAdversarialTest: Bộ kiểm tra đóng vai trò đối nghịch (Challenger), cố tình đưa dữ liệu dị thường để kiểm tra tính bền vững.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Giám sát chu kỳ sống ViewModel: Rà soát việc sử dụng collectAsStateWithLifecycle(), ngăn chặn tuyệt đối lỗi rò rỉ bộ nhớ (Memory Leak).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Khả năng mở rộng bền vững: Đảm bảo khi bổ sung tính năng mới, hệ thống không phá vỡ các hợp đồng kiến trúc đã cam kết.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5: 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13. Tổng kết Kết quả Đạt được &amp; Hạn chế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THÀNH TỰU NGHIÊN CỨU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t>🏆 KẾT QUẢ ĐẠT ĐƯỢC NỔI BẬT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Xây dựng thành công ứng dụng Android Cooking Note hoàn chỉnh, mượt mà và trực quan với 100% Jetpack Compose Material 3 hiện đại.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Kiến trúc Offline-First vững chắc: 10 thực thể CSDL Room v3 hoạt động ổn định không cần Internet; kiểm soát kho tủ lạnh và cảnh báo tồn kho đỏ.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Tích hợp trợ lý AI thông minh: Hỗ trợ linh hoạt 4 Cloud LLM (OpenAI, Gemini, Claude, DeepSeek) kết hợp thuật toán RuleBasedAi dự phòng khi mất mạng.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Đạt chuẩn bảo mật cấp hệ thống: Khóa bí mật API mã hóa bằng Keystore phần cứng AES-256-GCM; luồng xác thực thực hiện an toàn phía máy chủ.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Chất lượng sản phẩm được kiểm chứng: 135/135 bài kiểm thử đơn vị tự động vượt qua 100% trên nền tảng máy ảo JVM.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t>NHÌN NHẬN THỰC TẾ</a:t>
            </a:r>
          </a:p>
          <a:p>
            <a:pPr>
              <a:spcAft>
                <a:spcPts val="600"/>
              </a:spcAft>
              <a:defRPr sz="1350" b="1">
                <a:solidFill>
                  <a:srgbClr val="E65100"/>
                </a:solidFill>
              </a:defRPr>
            </a:pPr>
            <a:r>
              <a:t>⚠️ HẠN CHẾ THỰC TẾ &amp; BÀI HỌC KINH NGHIỆM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Chưa có bộ kiểm thử tự động giao diện (Instrumented UI Tests): Hiện tại kiểm thử hiển thị và trải nghiệm người dùng vẫn phụ thuộc vào đo đạc thủ công trên máy thật.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Tính năng CameraX chưa nối trực tiếp vào UI biên tập: Người dùng hiện tải ảnh đại diện công thức qua đường dẫn URL hoặc chọn tệp sẵn có trên máy.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Chưa có tính năng đồng bộ đám mây thời gian thực (Cloud Sync): Dữ liệu giữa nhiều thiết bị hiện đồng bộ thủ công thông qua tính năng xuất/nhập tệp sao lưu CSDL.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Phụ thuộc kết nối mạng khi dùng Cloud AI: Mặc dù có RuleBasedAi dự phòng, nhưng câu trả lời phân tích chuyên sâu của AI vẫn cần đường truyền mạng ổn định.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GIAI ĐOẠN 5: 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4F72"/>
                </a:solidFill>
              </a:defRPr>
            </a:pPr>
            <a:r>
              <a:t>14. Kế hoạch &amp; Hướng Phát triển Trong Tương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57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Cooking Note — Sổ tay nấu ăn thông minh  |  Báo cáo BTL Phát triển Ứng dụng Di động  |  Khoa CNTT - CBK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2880360" cy="2090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rPr dirty="0"/>
              <a:t>NGẮN HẠN: THỊ GIÁC MÁY TÍNH</a:t>
            </a:r>
          </a:p>
          <a:p>
            <a:pPr>
              <a:spcAft>
                <a:spcPts val="600"/>
              </a:spcAft>
              <a:defRPr sz="1350" b="1">
                <a:solidFill>
                  <a:srgbClr val="1B4F72"/>
                </a:solidFill>
              </a:defRPr>
            </a:pPr>
            <a:r>
              <a:rPr dirty="0"/>
              <a:t>📸 AI Camera Vision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Quét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siêu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: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 </a:t>
            </a:r>
            <a:r>
              <a:rPr dirty="0" err="1"/>
              <a:t>tủ</a:t>
            </a:r>
            <a:r>
              <a:rPr dirty="0"/>
              <a:t> </a:t>
            </a:r>
            <a:r>
              <a:rPr dirty="0" err="1"/>
              <a:t>lạnh</a:t>
            </a:r>
            <a:r>
              <a:rPr dirty="0"/>
              <a:t> Pantry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1 </a:t>
            </a:r>
            <a:r>
              <a:rPr dirty="0" err="1"/>
              <a:t>bức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chụp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qua Camera: </a:t>
            </a:r>
            <a:r>
              <a:rPr dirty="0" err="1"/>
              <a:t>Hướng</a:t>
            </a:r>
            <a:r>
              <a:rPr dirty="0"/>
              <a:t> camera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rau</a:t>
            </a:r>
            <a:r>
              <a:rPr dirty="0"/>
              <a:t> </a:t>
            </a:r>
            <a:r>
              <a:rPr dirty="0" err="1"/>
              <a:t>củ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tủ</a:t>
            </a:r>
            <a:r>
              <a:rPr dirty="0"/>
              <a:t> </a:t>
            </a:r>
            <a:r>
              <a:rPr dirty="0" err="1"/>
              <a:t>lạnh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AI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Chụp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: AI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màu</a:t>
            </a:r>
            <a:r>
              <a:rPr dirty="0"/>
              <a:t> </a:t>
            </a:r>
            <a:r>
              <a:rPr dirty="0" err="1"/>
              <a:t>sắc</a:t>
            </a:r>
            <a:r>
              <a:rPr dirty="0"/>
              <a:t>,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chấm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</a:t>
            </a:r>
            <a:r>
              <a:rPr dirty="0" err="1"/>
              <a:t>trí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645920"/>
            <a:ext cx="2880360" cy="22595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rPr dirty="0"/>
              <a:t>TRUNG HẠN: TƯƠNG TÁC TỰ NHIÊN</a:t>
            </a:r>
          </a:p>
          <a:p>
            <a:pPr>
              <a:spcAft>
                <a:spcPts val="600"/>
              </a:spcAft>
              <a:defRPr sz="1350" b="1">
                <a:solidFill>
                  <a:srgbClr val="0E6655"/>
                </a:solidFill>
              </a:defRPr>
            </a:pPr>
            <a:r>
              <a:rPr dirty="0"/>
              <a:t>🎙️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Rảnh</a:t>
            </a:r>
            <a:r>
              <a:rPr dirty="0"/>
              <a:t> </a:t>
            </a:r>
            <a:r>
              <a:rPr lang="en-US" dirty="0" err="1"/>
              <a:t>tay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giọng</a:t>
            </a:r>
            <a:r>
              <a:rPr dirty="0"/>
              <a:t> </a:t>
            </a:r>
            <a:r>
              <a:rPr dirty="0" err="1"/>
              <a:t>nói</a:t>
            </a:r>
            <a:r>
              <a:rPr dirty="0"/>
              <a:t> (Voice Command):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, </a:t>
            </a:r>
            <a:r>
              <a:rPr dirty="0" err="1"/>
              <a:t>tạm</a:t>
            </a:r>
            <a:r>
              <a:rPr dirty="0"/>
              <a:t> </a:t>
            </a:r>
            <a:r>
              <a:rPr dirty="0" err="1"/>
              <a:t>dừng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hẹn</a:t>
            </a:r>
            <a:r>
              <a:rPr dirty="0"/>
              <a:t> </a:t>
            </a:r>
            <a:r>
              <a:rPr dirty="0" err="1"/>
              <a:t>giờ</a:t>
            </a:r>
            <a:r>
              <a:rPr dirty="0"/>
              <a:t> </a:t>
            </a:r>
            <a:r>
              <a:rPr dirty="0" err="1"/>
              <a:t>nấu</a:t>
            </a:r>
            <a:r>
              <a:rPr dirty="0"/>
              <a:t> </a:t>
            </a:r>
            <a:r>
              <a:rPr dirty="0" err="1"/>
              <a:t>nướng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chạm</a:t>
            </a:r>
            <a:r>
              <a:rPr dirty="0"/>
              <a:t> </a:t>
            </a:r>
            <a:r>
              <a:rPr dirty="0" err="1"/>
              <a:t>tay</a:t>
            </a:r>
            <a:r>
              <a:rPr dirty="0"/>
              <a:t> </a:t>
            </a:r>
            <a:r>
              <a:rPr dirty="0" err="1"/>
              <a:t>ướt</a:t>
            </a:r>
            <a:r>
              <a:rPr dirty="0"/>
              <a:t>/</a:t>
            </a:r>
            <a:r>
              <a:rPr dirty="0" err="1"/>
              <a:t>bẩn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màn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Đọc</a:t>
            </a:r>
            <a:r>
              <a:rPr dirty="0"/>
              <a:t> to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(Text-to-Speech):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ảo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 to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nấu</a:t>
            </a:r>
            <a:r>
              <a:rPr dirty="0"/>
              <a:t> </a:t>
            </a:r>
            <a:r>
              <a:rPr dirty="0" err="1"/>
              <a:t>nướng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giọng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cảm</a:t>
            </a:r>
            <a:r>
              <a:rPr dirty="0"/>
              <a:t>, </a:t>
            </a:r>
            <a:r>
              <a:rPr dirty="0" err="1"/>
              <a:t>thân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cá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: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dirty="0" err="1"/>
              <a:t>bữa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kiêng</a:t>
            </a:r>
            <a:r>
              <a:rPr dirty="0"/>
              <a:t> (Keto, Low-Carb,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chay</a:t>
            </a:r>
            <a:r>
              <a:rPr dirty="0"/>
              <a:t>, </a:t>
            </a:r>
            <a:r>
              <a:rPr dirty="0" err="1"/>
              <a:t>Tiểu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645920"/>
            <a:ext cx="2880360" cy="2090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65100"/>
                </a:solidFill>
              </a:defRPr>
            </a:pPr>
            <a:r>
              <a:rPr dirty="0"/>
              <a:t>DÀI HẠN: NỀN TẢNG TOÀN DIỆN</a:t>
            </a:r>
          </a:p>
          <a:p>
            <a:pPr>
              <a:spcAft>
                <a:spcPts val="600"/>
              </a:spcAft>
              <a:defRPr sz="1350" b="1">
                <a:solidFill>
                  <a:srgbClr val="E65100"/>
                </a:solidFill>
              </a:defRPr>
            </a:pPr>
            <a:r>
              <a:rPr dirty="0"/>
              <a:t>☁️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&amp; Dinh </a:t>
            </a:r>
            <a:r>
              <a:rPr dirty="0" err="1"/>
              <a:t>dưỡng</a:t>
            </a:r>
            <a:r>
              <a:rPr dirty="0"/>
              <a:t> 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đám</a:t>
            </a:r>
            <a:r>
              <a:rPr dirty="0"/>
              <a:t> </a:t>
            </a:r>
            <a:r>
              <a:rPr dirty="0" err="1"/>
              <a:t>mây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(Real-time Cloud Sync):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tủ</a:t>
            </a:r>
            <a:r>
              <a:rPr dirty="0"/>
              <a:t> </a:t>
            </a:r>
            <a:r>
              <a:rPr dirty="0" err="1"/>
              <a:t>lạnh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gia</a:t>
            </a:r>
            <a:r>
              <a:rPr dirty="0"/>
              <a:t> </a:t>
            </a:r>
            <a:r>
              <a:rPr dirty="0" err="1"/>
              <a:t>đình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dinh</a:t>
            </a:r>
            <a:r>
              <a:rPr dirty="0"/>
              <a:t> </a:t>
            </a:r>
            <a:r>
              <a:rPr dirty="0" err="1"/>
              <a:t>dưỡng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sâu</a:t>
            </a:r>
            <a:r>
              <a:rPr dirty="0"/>
              <a:t>: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Calo, Protein, Carb, Fat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ẩm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: Cho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,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nấu</a:t>
            </a:r>
            <a:r>
              <a:rPr dirty="0"/>
              <a:t> </a:t>
            </a:r>
            <a:r>
              <a:rPr dirty="0" err="1"/>
              <a:t>nướng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898648"/>
            <a:ext cx="10728655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rPr dirty="0"/>
              <a:t>XIN CHÂN THÀNH CẢM ƠN THẦY CÔ!</a:t>
            </a:r>
            <a:endParaRPr lang="en-US" dirty="0"/>
          </a:p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rPr lang="en-US" dirty="0"/>
              <a:t>ĐÃ THEO DÕI BÀI THUYẾT TRÌNH NÀY CỦA CHÚNG EM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4770</Words>
  <Application>Microsoft Office PowerPoint</Application>
  <PresentationFormat>Widescreen</PresentationFormat>
  <Paragraphs>298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Kẹo Gấu</cp:lastModifiedBy>
  <cp:revision>6</cp:revision>
  <dcterms:created xsi:type="dcterms:W3CDTF">2013-01-27T09:14:16Z</dcterms:created>
  <dcterms:modified xsi:type="dcterms:W3CDTF">2026-10-04T07:55:42Z</dcterms:modified>
  <cp:category/>
</cp:coreProperties>
</file>