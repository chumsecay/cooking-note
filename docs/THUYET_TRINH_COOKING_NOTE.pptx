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32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0C4DE"/>
                </a:solidFill>
              </a:defRPr>
            </a:pPr>
            <a:r>
              <a:t>TRƯỜNG CAO ĐẲNG KỸ THUẬT – CÔNG NGHỆ BÁCH KHOA</a:t>
            </a:r>
            <a:br/>
            <a:r>
              <a:t>KHOA CÔNG NGHỆ THÔNG TIN</a:t>
            </a:r>
          </a:p>
          <a:p>
            <a:br/>
            <a:pPr algn="ctr">
              <a:defRPr sz="1600" b="1">
                <a:solidFill>
                  <a:srgbClr val="FFA726"/>
                </a:solidFill>
              </a:defRPr>
            </a:pPr>
            <a:r>
              <a:t>BÁO CÁO BÀI TẬP LỚN MÔN: PHÁT TRIỂN ỨNG DỤNG DI ĐỘNG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COOKING NOTE — SỔ TAY NẤU ĂN THÔNG MINH</a:t>
            </a:r>
          </a:p>
          <a:p>
            <a:pPr algn="ctr">
              <a:defRPr sz="1500" i="1">
                <a:solidFill>
                  <a:srgbClr val="E0E0E0"/>
                </a:solidFill>
              </a:defRPr>
            </a:pPr>
            <a:r>
              <a:t>Kiến trúc MVVM · Jetpack Compose Material 3 · Room Database 2.6.1 · Trợ lý AI Multi-Provider</a:t>
            </a:r>
          </a:p>
          <a:p>
            <a:br/>
            <a:br/>
            <a:pPr algn="ctr">
              <a:defRPr sz="1400">
                <a:solidFill>
                  <a:srgbClr val="FFFFFF"/>
                </a:solidFill>
              </a:defRPr>
            </a:pPr>
            <a:r>
              <a:t>Giảng viên hướng dẫn: ThS. Lê Văn Quân</a:t>
            </a:r>
            <a:br/>
            <a:r>
              <a:t>Nhóm sinh viên thực hiện: Vũ Đình Đạo (NT), Ngô Gia Bảo, Nguyễn Tiến Dũng, Lê Đức Trọng — Lớp: TT602-K16LT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GIỚI THIỆU ĐỀ TÀI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1. Đặt vấn đề &amp; Nhu cầu thực tế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Vấn đề của người nội trợ hiện đại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Câu hỏi hằng ngày: "Hôm nay ăn gì?" gây mất nhiều thời gian đắn đo suy nghĩ.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Nguyên liệu thừa trong tủ lạnh dễ bị quên lãng, hết hạn gây lãng phí thực phẩm.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Mất kết nối Internet trong phòng bếp, tầng hầm khiến việc tra cứu công thức bị gián đoạn.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Các ứng dụng hiện tại tràn ngập quảng cáo, thao tác phức tạp, thiếu tính cá nhân hóa.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Giải pháp của Cooking Note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Sổ tay Offline-First: Lưu trữ toàn bộ dữ liệu trên máy, tra cứu mọi lúc mọi nơi.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Quản lý tủ lạnh thông minh (Pantry): Kết nối nguyên liệu sẵn có với gợi ý món ăn tương ứng.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Trợ lý AI đa nền tảng: Hỗ trợ chat hỏi đáp thực đơn, tự động nạp danh sách đồ trong tủ lạnh.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Thuật toán ngoại tuyến RuleBasedAi: Vẫn gợi ý món ăn chuẩn xác ngay cả khi không có mạng.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MỤC TIÊU ĐỀ TÀI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2. Mục tiêu dự án &amp; Đặc trưng nổi bật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🎨 Trải nghiệm giao diện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100% Jetpack Compose Material 3 hiện đại.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Giao diện ấm cúng, tối ưu hóa thao tác 1 chạm khi đang nấu ăn.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Hỗ trợ chế độ Sáng/Tối (Light/Dark Theme) mượt mà.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🏗️ Kiến trúc chuẩn mực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Áp dụng chuẩn MVVM + Unidirectional Data Flow (UDF).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Tách biệt 100% tầng giao diện khỏi tầng dữ liệu.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Thu thập State an toàn theo vòng đời với collectAsStateWithLifecycle().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🧠 Trí tuệ nhân tạo linh hoạt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Tích hợp 4 API LLM lớn: OpenAI Chat, Responses, Claude, Gemini.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Bảo mật khóa API quân đội bằng EncryptedSharedPreferences.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Thuật toán cục bộ Rule-Based sẵn sàng thay thế khi mất mạng.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CÔNG NGHỆ NỀN TẢNG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3. Công nghệ &amp; Thư viện phát triển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Giao diện &amp; Điều hướng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Jetpack Compose (BOM 2024.12.01) · Material 3 Design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Navigation Compose với sealed class Route an toàn tham số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Coil Compose 2.7.0 hỗ trợ tải và cache hình ảnh tối ưu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Cơ sở dữ liệu &amp; Lưu trữ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Room Database 2.6.1 với bộ xử lý KSP hiện đại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DataStore Preferences quản lý cấu hình người dùng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EncryptedSharedPreferences (Jetpack Security) mã hóa AES-256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120640" cy="210312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2976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Bất đồng bộ &amp; Mạng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Kotlin Coroutines 1.9.0 &amp; Reactive StateFlow / Flow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Retrofit 2.11.0 + Moshi 1.15.1 + OkHttp 4.12.0 Logging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2976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Môi trường &amp; Kiểm thử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Kotlin 2.0.21 · JVM Target 17 · compileSdk = 35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JUnit 4 · Coroutines Test · Turbine 1.2.0 · MockK 1.13.13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THIẾT KẾ KIẾN TRÚC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4. Mô hình Kiến trúc MVVM &amp; Unidirectional Data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Luồng dữ liệu khép kín (UDF)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Tầng UI (10 Screens): Nhận State bất biến từ ViewModel và hiển thị; phát sự kiện người dùng (onAction) lên ViewModel.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Tầng ViewModel (10 ViewModels độc lập): Nhận sự kiện, tương tác với Repository qua Coroutines Scope; giữ StateFlow bất biến (Loading, Content, Empty, Error).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Tầng Data (CookbookRepository): Đóng vai trò Single Source of Truth, điều phối truy vấn giữa 9 Room DAOs và AI Subsystem.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Manual Dependency Injection: AppContainer cấp phát Repository tập trung; AppViewModelFactory khởi tạo ViewModel không cần thư viện DI cồng kềnh.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Lợi ích vượt trội: Triệt tiêu 100% việc gọi DB trực tiếp trong UI; dễ dàng Unit Test độc lập trên JVM không cần thiết bị giả lập.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5. Phân hệ Quản lý Công thức (Recipe Management)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Tính năng nổi bật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Duyệt danh sách thẻ công thức trực quan: Hình ảnh, tên món, độ khó, thời gian nấu.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Lọc nhanh theo danh mục ẩm thực (Món canh, mặn, xào, chay, đồ uống...).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Chi tiết món ăn: Danh sách định lượng nguyên liệu, các bước nấu có số thứ tự.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Một chạm đánh dấu yêu thích (Favorites) và ghi nhận nhật ký đã nấu (Cook History).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Chia sẻ nhanh công thức chuẩn văn bản qua Zalo, Messenger, SMS.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Thiết kế kỹ thuật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CreateRecipeViewModel: Tự động kiểm tra tính hợp lệ biểu mẫu (Form validation).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Hỗ trợ thêm/xóa linh hoạt nhiều nguyên liệu và bước làm trong 1 giao diện.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Giao dịch an toàn Room Transaction: Đảm bảo thêm mới/sửa công thức đồng thời cập nhật bảng con (ingredients, steps) toàn vẹn 100%.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6. Phân hệ Quản lý Tủ lạnh Thông minh (Pantry)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Trải nghiệm quản trị thực phẩm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Theo dõi số lượng thực phẩm thực tế đang có trong bếp.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Quản lý hạn sử dụng và đơn vị đo linh hoạt (g, kg, quả, lít...).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Hệ thống tự động gắn nhãn cảnh báo đỏ với các nguyên liệu chạm ngưỡng sắp hết.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Hộp thoại (Dialog) thêm nhanh nguyên liệu chỉ với vài thao tác chạm.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Kết nối thông minh với món ăn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Gợi ý công thức từ tủ lạnh: Tự động so khớp nguyên liệu trong tủ lạnh với cơ sở dữ liệu công thức.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Tích hợp ngữ cảnh vào AI: Danh sách tủ lạnh tự động được nạp vào hệ thống để AI gợi ý món ăn có thể nấu ngay mà không cần đi chợ.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7. Phân hệ Trợ lý AI Thông minh (Multi-Provider &amp; Offline)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Trợ lý AI Đám mây (Cloud LLM)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Tương thích linh hoạt 4 cổng API chuẩn quốc tế: OpenAI Chat, Responses, Anthropic Claude, Google Gemini.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Cơ chế nạp ngữ cảnh thông minh (Context Injection): Tự nạp danh sách đồ trong tủ lạnh + 5 món yêu thích + 3 lần nấu gần nhất vào System Prompt.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Lưu trữ toàn bộ phiên chat vào SQLite Room, tiếp nối hội thoại mượt mà.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Bảo mật khóa API bằng EncryptedSharedPreferences.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Thuật toán Ngoại tuyến (RuleBasedAi)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Hoạt động ngay tức thì khi người dùng mất mạng hoặc chưa nhập API Key.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Tự động phân tích từ khóa yêu cầu: "nhanh" (dưới 30 phút), "chay" (lọc món chay), "cay"...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Tự động đề xuất món ăn phù hợp nhất từ kho dữ liệu nội bộ của ứng dụng.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8. Tìm kiếm Tức thì &amp; Lọc Danh mục Thông minh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Kỹ thuật Debounce 300ms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Vấn đề: Người dùng gõ phím liên tục nếu truy vấn DB ngay sẽ gây giật lag và tốn pin.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Giải pháp: Áp dụng toán tử debounce(300L) trong Kotlin Flow tại SearchViewModel.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Chỉ thực hiện truy vấn khi người dùng dừng gõ 300ms, giúp UI phản hồi cực kỳ êm ái.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Truy vấn Đa trường dữ liệu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Tìm kiếm đồng thời trên nhiều trường: Tên món ăn, mô tả, ghi chú và cả tên nguyên liệu bên trong.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Đánh chỉ mục (Index) trên Room Database giúp câu lệnh SQL LIKE phản hồi dưới 20ms.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Trạng thái giao diện phân định rõ: Gợi ý ban đầu, Đang tìm kiếm, Không tìm thấy kết quả.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CHỨC NĂNG CHÍNH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9. Phân hệ Cài đặt &amp; Sao lưu Dữ liệu (Backup)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Tùy biến cấu hình AI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Dễ dàng chuyển đổi linh hoạt giữa 5 nhà cung cấp AI trong menu thả xuống.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Tùy chỉnh Endpoint URL, Model ID (gpt-4o-mini, claude-3-5-haiku, gemini-1.5-flash) và max_tokens.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Tự động ẩn/hiện trường nhập API Key tùy theo lựa chọn sử dụng Cloud hay Offline.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Sao lưu SQLite Bất đồng bộ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Xuất toàn bộ cơ sở dữ liệu SQLite thành tệp `cookingnote-backup.db`.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Tác vụ đọc ghi đĩa chạy 100% trên luồng nền Dispatchers.IO, triệt tiêu việc đơ màn hình chính.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Tích hợp Android FileProvider cho phép gửi tệp sao lưu qua Google Drive, Zalo, Gmail.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THIẾT KẾ HỆ THỐNG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10. Cơ sở Dữ liệu Room (10 Entities &amp; 9 DAOs)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Các bảng quan hệ chính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recipes: Bảng chính chứa thông tin công thức (PK: id, FK: categoryId).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ingredients: Nguyên liệu (FK: recipeId có ràng buộc CASCADE xóa tự động).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steps: Các bước thực hiện (FK: recipeId có ràng buộc CASCADE).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categories: Danh mục món ăn có màu sắc và icon trực quan.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pantry_items: Nguyên liệu thực tế trong tủ lạnh và ngưỡng sắp hết.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Nhật ký &amp; Lịch sử hỗ trợ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cook_history: Ghi nhận lịch sử mỗi lần nấu món ăn (FK: recipeId).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tags &amp; recipe_tag_cross_ref: Quan hệ N-N cho phép gắn nhiều nhãn linh hoạt.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chat_messages: Lưu trữ toàn bộ hội thoại với trợ lý AI.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ai_query_logs: Theo dõi độ trễ và tỷ lệ thành công của các lượt gọi mạng.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ĐẢM BẢO CHẤT LƯỢNG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11. Chiến lược Kiểm thử Tự động (100/100 Tests Passed)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Hạ tầng Test độc lập trên JVM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MainDispatcherRule: Tự động quản lý TestDispatcher cho các Coroutine ViewModel.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Chuyển đổi sang java.util.Base64: Giúp kiểm thử AI xử lý ảnh chạy thuần túy trên JVM mà không ném lỗi Stub.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Turbine Framework: Kiểm tra chính xác từng giá trị phát xạ của StateFlow có WhileSubscribed.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Kết quả nghiệm thu thực tế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CookbookRepositoryTest: Xác thực tính toàn vẹn Transaction khi thêm/sửa món.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10 ViewModel Tests: Kiểm tra 100% các trạng thái Loading, Content, Empty, Error.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RuleBasedAiTest: Đảm bảo thuật toán lọc món nhanh, ăn chay hoạt động chính xác.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Kết quả kiểm thử: 100/100 tests PASSED (100%) trong 11.5s.</a:t>
            </a:r>
            <a:br/>
            <a:r>
              <a:t>Biên dịch APK thành công: ./gradlew :app:assembleDebug.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TỔNG KẾT ĐỀ TÀI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12. Đánh giá Kết quả Đạt được &amp; Hạn chế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Thành quả nổi bật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Hoàn thành toàn diện một ứng dụng Android hoàn chỉnh, sẵn sàng cài đặt thực tế.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Kiến trúc MVVM + UDF chuyên nghiệp, đáp ứng các tiêu chuẩn khắt khe nhất của Google.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Hoạt động ngoại tuyến mạnh mẽ kết hợp hài hòa cùng công nghệ AI thời thượng.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Hệ thống kiểm thử tự động vững chắc, dễ dàng bảo trì và mở rộng trong tương lai.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Hạn chế cần khắc phục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Tính năng quét ảnh món ăn bằng CameraX mới dừng ở mức cấu hình dependency, chưa tích hợp UI chụp trực tiếp.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Chưa hỗ trợ đồng bộ đám mây đa thiết bị (Cloud Sync) do ưu tiên tính riêng tư dữ liệu cục bộ.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65100"/>
                </a:solidFill>
              </a:defRPr>
            </a:pPr>
            <a:r>
              <a:t>TƯƠNG LAI DỰ ÁN</a:t>
            </a:r>
          </a:p>
          <a:p>
            <a:pPr>
              <a:spcBef>
                <a:spcPts val="400"/>
              </a:spcBef>
              <a:defRPr sz="2400" b="1">
                <a:solidFill>
                  <a:srgbClr val="1B4F72"/>
                </a:solidFill>
              </a:defRPr>
            </a:pPr>
            <a:r>
              <a:t>13. Hướng Phát triển Trong Tương lai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👁️ AI Camera Vision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Chụp ảnh toàn cảnh tủ lạnh.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AI tự động nhận diện các loại rau củ, thịt cá và tự điền số lượng vào kho Pantry.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🥗 Phân tích Dinh dưỡng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Tự động tính toán lượng Calo, Protein, Chất béo, Tinh bột cho từng khẩu phần.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Đề xuất thực đơn Eat Clean, giảm cân, ăn kiêng khoa học.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B4F72"/>
                </a:solidFill>
              </a:defRPr>
            </a:pPr>
            <a:r>
              <a:t>🎙️ Trợ lý Giọng nói &amp; Hẹn giờ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Hẹn giờ đun nấu thông minh (Timer) cho từng bước nấu.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• Ra lệnh bằng giọng nói tiếng Việt: "Bước tiếp theo là gì?" để không cần chạm vào máy.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XIN TRÂN TRỌNG CẢM ƠN THẦY VÀ CÁC BẠN ĐÃ LẮNG NGHE!</a:t>
            </a:r>
          </a:p>
          <a:p>
            <a:br/>
            <a:br/>
            <a:pPr algn="ctr">
              <a:defRPr sz="1600">
                <a:solidFill>
                  <a:srgbClr val="E0E0E0"/>
                </a:solidFill>
              </a:defRPr>
            </a:pPr>
            <a:r>
              <a:t>Nhóm chúng em rất mong nhận được những lời nhận xét, góp ý quý báu từ Thầy</a:t>
            </a:r>
            <a:br/>
            <a:r>
              <a:t>để đề tài Cooking Note ngày càng hoàn thiện hơn.</a:t>
            </a:r>
          </a:p>
          <a:p>
            <a:br/>
            <a:pPr algn="ctr">
              <a:defRPr sz="2200" b="1">
                <a:solidFill>
                  <a:srgbClr val="FFA726"/>
                </a:solidFill>
              </a:defRPr>
            </a:pPr>
            <a:r>
              <a:t>❓ Q &amp; A — CÂU HỎI VÀ THẢO LUẬN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